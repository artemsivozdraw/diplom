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omments/comment1.xml" ContentType="application/vnd.openxmlformats-officedocument.presentationml.comments+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omments/comment2.xml" ContentType="application/vnd.openxmlformats-officedocument.presentationml.comments+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50" r:id="rId2"/>
    <p:sldMasterId id="2147483652" r:id="rId3"/>
  </p:sldMasterIdLst>
  <p:notesMasterIdLst>
    <p:notesMasterId r:id="rId21"/>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Lst>
  <p:sldSz cx="9144000" cy="5143500" type="screen16x9"/>
  <p:notesSz cx="7559675" cy="10691813"/>
  <p:embeddedFontLst>
    <p:embeddedFont>
      <p:font typeface="Exo 2" panose="020B0604020202020204" charset="-52"/>
      <p:regular r:id="rId22"/>
      <p:bold r:id="rId23"/>
      <p:italic r:id="rId24"/>
      <p:boldItalic r:id="rId25"/>
    </p:embeddedFont>
    <p:embeddedFont>
      <p:font typeface="Google Sans" panose="020B0604020202020204" charset="0"/>
      <p:regular r:id="rId26"/>
      <p:bold r:id="rId27"/>
      <p:italic r:id="rId28"/>
      <p:boldItalic r:id="rId2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33" roundtripDataSignature="AMtx7mhhMb68CyShAShhRFRJ+cMdHb/Uug=="/>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Ганна Сарибога" initials="" lastIdx="2" clrIdx="0"/>
  <p:cmAuthor id="1" name="Анонім" initials="" lastIdx="1" clrIdx="1"/>
  <p:cmAuthor id="2" name="Артем Сівоздрав" initials="" lastIdx="1"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93" d="100"/>
          <a:sy n="193" d="100"/>
        </p:scale>
        <p:origin x="864" y="1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font" Target="fonts/font5.fntdata"/><Relationship Id="rId3" Type="http://schemas.openxmlformats.org/officeDocument/2006/relationships/slideMaster" Target="slideMasters/slideMaster3.xml"/><Relationship Id="rId21" Type="http://schemas.openxmlformats.org/officeDocument/2006/relationships/notesMaster" Target="notesMasters/notesMaster1.xml"/><Relationship Id="rId34" Type="http://schemas.openxmlformats.org/officeDocument/2006/relationships/commentAuthors" Target="commentAuthors.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font" Target="fonts/font4.fntdata"/><Relationship Id="rId33" Type="http://customschemas.google.com/relationships/presentationmetadata" Target="metadata"/><Relationship Id="rId38"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font" Target="fonts/font8.fntdata"/><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font" Target="fonts/font3.fntdata"/><Relationship Id="rId37" Type="http://schemas.openxmlformats.org/officeDocument/2006/relationships/theme" Target="theme/theme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font" Target="fonts/font2.fntdata"/><Relationship Id="rId28" Type="http://schemas.openxmlformats.org/officeDocument/2006/relationships/font" Target="fonts/font7.fntdata"/><Relationship Id="rId36" Type="http://schemas.openxmlformats.org/officeDocument/2006/relationships/viewProps" Target="viewProps.xml"/><Relationship Id="rId10" Type="http://schemas.openxmlformats.org/officeDocument/2006/relationships/slide" Target="slides/slide7.xml"/><Relationship Id="rId19" Type="http://schemas.openxmlformats.org/officeDocument/2006/relationships/slide" Target="slides/slide16.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font" Target="fonts/font1.fntdata"/><Relationship Id="rId27" Type="http://schemas.openxmlformats.org/officeDocument/2006/relationships/font" Target="fonts/font6.fntdata"/><Relationship Id="rId35" Type="http://schemas.openxmlformats.org/officeDocument/2006/relationships/presProps" Target="presProps.xml"/><Relationship Id="rId8" Type="http://schemas.openxmlformats.org/officeDocument/2006/relationships/slide" Target="slides/slide5.xml"/></Relationships>
</file>

<file path=ppt/comments/comment1.xml><?xml version="1.0" encoding="utf-8"?>
<p:cmLst xmlns:a="http://schemas.openxmlformats.org/drawingml/2006/main" xmlns:r="http://schemas.openxmlformats.org/officeDocument/2006/relationships" xmlns:p="http://schemas.openxmlformats.org/presentationml/2006/main">
  <p:cm authorId="0" dt="2026-06-04T18:07:16.088" idx="1">
    <p:pos x="52" y="437"/>
    <p:text>пиши те, шо потім зможеш підтвердити-тобто те , шо виконується в твойому ПЗ і це видно в результатах</p:text>
    <p:extLst>
      <p:ext uri="{C676402C-5697-4E1C-873F-D02D1690AC5C}">
        <p15:threadingInfo xmlns:p15="http://schemas.microsoft.com/office/powerpoint/2012/main" timeZoneBias="0"/>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commentPostId="AAAB82eLINM"/>
      </p:ext>
    </p:extLst>
  </p:cm>
  <p:cm authorId="1" dt="2026-06-04T18:07:16.088" idx="1">
    <p:pos x="52" y="437"/>
    <p:text>так, в вимогах я написав саме те що і робить програма</p:text>
    <p:extLst>
      <p:ext uri="{C676402C-5697-4E1C-873F-D02D1690AC5C}">
        <p15:threadingInfo xmlns:p15="http://schemas.microsoft.com/office/powerpoint/2012/main" timeZoneBias="0">
          <p15:parentCm authorId="0" idx="1"/>
        </p15:threadingInfo>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commentPostId="AAAB82eLINQ"/>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0" dt="2026-06-04T18:30:05.783" idx="2">
    <p:pos x="113" y="113"/>
    <p:text>це вірно чи як тоді?</p:text>
    <p:extLst>
      <p:ext uri="{C676402C-5697-4E1C-873F-D02D1690AC5C}">
        <p15:threadingInfo xmlns:p15="http://schemas.microsoft.com/office/powerpoint/2012/main" timeZoneBias="0"/>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commentPostId="AAAB82a_2k0"/>
      </p:ext>
    </p:extLst>
  </p:cm>
  <p:cm authorId="2" dt="2026-06-04T18:30:05.783" idx="1">
    <p:pos x="113" y="113"/>
    <p:text>да</p:text>
    <p:extLst>
      <p:ext uri="{C676402C-5697-4E1C-873F-D02D1690AC5C}">
        <p15:threadingInfo xmlns:p15="http://schemas.microsoft.com/office/powerpoint/2012/main" timeZoneBias="0">
          <p15:parentCm authorId="0" idx="2"/>
        </p15:threadingInfo>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commentPostId="AAAB82a_2k4"/>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276600" cy="53657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4281488" y="0"/>
            <a:ext cx="3276600" cy="536575"/>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10155238"/>
            <a:ext cx="3276600" cy="536575"/>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uk-UA"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
        <p:cNvGrpSpPr/>
        <p:nvPr/>
      </p:nvGrpSpPr>
      <p:grpSpPr>
        <a:xfrm>
          <a:off x="0" y="0"/>
          <a:ext cx="0" cy="0"/>
          <a:chOff x="0" y="0"/>
          <a:chExt cx="0" cy="0"/>
        </a:xfrm>
      </p:grpSpPr>
      <p:sp>
        <p:nvSpPr>
          <p:cNvPr id="37" name="Google Shape;37;p1:notes"/>
          <p:cNvSpPr txBox="1">
            <a:spLocks noGrp="1"/>
          </p:cNvSpPr>
          <p:nvPr>
            <p:ph type="body" idx="1"/>
          </p:nvPr>
        </p:nvSpPr>
        <p:spPr>
          <a:xfrm>
            <a:off x="755650" y="5145088"/>
            <a:ext cx="6048375" cy="42100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8" name="Google Shape;38;p1: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
        <p:cNvGrpSpPr/>
        <p:nvPr/>
      </p:nvGrpSpPr>
      <p:grpSpPr>
        <a:xfrm>
          <a:off x="0" y="0"/>
          <a:ext cx="0" cy="0"/>
          <a:chOff x="0" y="0"/>
          <a:chExt cx="0" cy="0"/>
        </a:xfrm>
      </p:grpSpPr>
      <p:sp>
        <p:nvSpPr>
          <p:cNvPr id="47" name="Google Shape;47;g3e87284c66a_1_2:notes"/>
          <p:cNvSpPr>
            <a:spLocks noGrp="1" noRot="1" noChangeAspect="1"/>
          </p:cNvSpPr>
          <p:nvPr>
            <p:ph type="sldImg" idx="2"/>
          </p:nvPr>
        </p:nvSpPr>
        <p:spPr>
          <a:xfrm>
            <a:off x="573088" y="1336675"/>
            <a:ext cx="6413400" cy="36084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 name="Google Shape;48;g3e87284c66a_1_2:notes"/>
          <p:cNvSpPr txBox="1">
            <a:spLocks noGrp="1"/>
          </p:cNvSpPr>
          <p:nvPr>
            <p:ph type="body" idx="1"/>
          </p:nvPr>
        </p:nvSpPr>
        <p:spPr>
          <a:xfrm>
            <a:off x="755650" y="5145088"/>
            <a:ext cx="6048300" cy="42102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uk-UA"/>
              <a:t>Сфера FPV-керування набула безпрецедентної актуальності через унікальне співвідношення низької вартості апаратів та їхньої надвисокої маневреності. На відміну від класичних автономних БПЛА, ручне FPV-пілотування забезпечує нульову затримку реакції. Це дозволяє оператору виконувати надскладні завдання в умовах щільної забудови, лісових масивів та активних радіоперешкод, що зробило ці дрони критично важливим інструментом як у промисловому секторі, так і у військовій справі </a:t>
            </a:r>
            <a:br>
              <a:rPr lang="uk-UA"/>
            </a:br>
            <a:br>
              <a:rPr lang="uk-UA"/>
            </a:br>
            <a:r>
              <a:rPr lang="uk-UA"/>
              <a:t>Світовий ринок FPV-дронів демонструє експоненційне зростання: за прогнозами аналітиків, до 2030 року його обсяг збільшиться майже в 5 разів, досягнувши позначки у 1.48 мільярда доларів США із середньорічним темпом зростання (CAGR) понад 31% </a:t>
            </a:r>
            <a:endParaRPr/>
          </a:p>
        </p:txBody>
      </p:sp>
      <p:sp>
        <p:nvSpPr>
          <p:cNvPr id="49" name="Google Shape;49;g3e87284c66a_1_2:notes"/>
          <p:cNvSpPr txBox="1">
            <a:spLocks noGrp="1"/>
          </p:cNvSpPr>
          <p:nvPr>
            <p:ph type="sldNum" idx="12"/>
          </p:nvPr>
        </p:nvSpPr>
        <p:spPr>
          <a:xfrm>
            <a:off x="4281488" y="10155238"/>
            <a:ext cx="3276600" cy="536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uk-UA"/>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
        <p:cNvGrpSpPr/>
        <p:nvPr/>
      </p:nvGrpSpPr>
      <p:grpSpPr>
        <a:xfrm>
          <a:off x="0" y="0"/>
          <a:ext cx="0" cy="0"/>
          <a:chOff x="0" y="0"/>
          <a:chExt cx="0" cy="0"/>
        </a:xfrm>
      </p:grpSpPr>
      <p:sp>
        <p:nvSpPr>
          <p:cNvPr id="53" name="Google Shape;53;p2:notes"/>
          <p:cNvSpPr txBox="1">
            <a:spLocks noGrp="1"/>
          </p:cNvSpPr>
          <p:nvPr>
            <p:ph type="body" idx="1"/>
          </p:nvPr>
        </p:nvSpPr>
        <p:spPr>
          <a:xfrm>
            <a:off x="755650" y="5145088"/>
            <a:ext cx="6048375" cy="42100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4" name="Google Shape;54;p2: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p3: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3" name="Google Shape;63;p3: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uk-UA"/>
              <a:t>Радіосигнал має свої фізичні обмеження. Збільшити його проникність в певних випадках стає неможливим. Через це для збільшення дальності необхідно застосовувати певний пристрій, який буде передавати \ подовжувати сигнал керування пульта та з іншого боку, надсилати у відповідь відео на пристрій керування. А щоб пов’язати пристрій комунікації і пілота можна застосувати стек інтернет протоколів tcp/ip. Це дасть змогу розміщувати ретранслятор, там де є інтернет з’єднання, а в наш час це практично всюди, таким чином вийде умовно забезпечити керування з будь якої точки світу, обмеженням буде лише швидкість інтернет з’єднання. </a:t>
            </a:r>
            <a:endParaRPr/>
          </a:p>
        </p:txBody>
      </p:sp>
      <p:sp>
        <p:nvSpPr>
          <p:cNvPr id="64" name="Google Shape;64;p3: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uk-UA"/>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
        <p:cNvGrpSpPr/>
        <p:nvPr/>
      </p:nvGrpSpPr>
      <p:grpSpPr>
        <a:xfrm>
          <a:off x="0" y="0"/>
          <a:ext cx="0" cy="0"/>
          <a:chOff x="0" y="0"/>
          <a:chExt cx="0" cy="0"/>
        </a:xfrm>
      </p:grpSpPr>
      <p:sp>
        <p:nvSpPr>
          <p:cNvPr id="71" name="Google Shape;71;p5:notes"/>
          <p:cNvSpPr txBox="1">
            <a:spLocks noGrp="1"/>
          </p:cNvSpPr>
          <p:nvPr>
            <p:ph type="body" idx="1"/>
          </p:nvPr>
        </p:nvSpPr>
        <p:spPr>
          <a:xfrm>
            <a:off x="755650" y="5145088"/>
            <a:ext cx="6048375" cy="42100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2" name="Google Shape;72;p5: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
        <p:cNvGrpSpPr/>
        <p:nvPr/>
      </p:nvGrpSpPr>
      <p:grpSpPr>
        <a:xfrm>
          <a:off x="0" y="0"/>
          <a:ext cx="0" cy="0"/>
          <a:chOff x="0" y="0"/>
          <a:chExt cx="0" cy="0"/>
        </a:xfrm>
      </p:grpSpPr>
      <p:sp>
        <p:nvSpPr>
          <p:cNvPr id="78" name="Google Shape;78;g3e87284c66a_4_31: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 name="Google Shape;79;g3e87284c66a_4_31:notes"/>
          <p:cNvSpPr txBox="1">
            <a:spLocks noGrp="1"/>
          </p:cNvSpPr>
          <p:nvPr>
            <p:ph type="body" idx="1"/>
          </p:nvPr>
        </p:nvSpPr>
        <p:spPr>
          <a:xfrm>
            <a:off x="755650" y="5145088"/>
            <a:ext cx="6048300" cy="42102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g3e87284c66a_4_31:notes"/>
          <p:cNvSpPr txBox="1">
            <a:spLocks noGrp="1"/>
          </p:cNvSpPr>
          <p:nvPr>
            <p:ph type="sldNum" idx="12"/>
          </p:nvPr>
        </p:nvSpPr>
        <p:spPr>
          <a:xfrm>
            <a:off x="4281488" y="10155238"/>
            <a:ext cx="3276600" cy="536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uk-UA"/>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3e87284c66a_1_45: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 name="Google Shape;91;g3e87284c66a_1_45:notes"/>
          <p:cNvSpPr txBox="1">
            <a:spLocks noGrp="1"/>
          </p:cNvSpPr>
          <p:nvPr>
            <p:ph type="body" idx="1"/>
          </p:nvPr>
        </p:nvSpPr>
        <p:spPr>
          <a:xfrm>
            <a:off x="755650" y="5145088"/>
            <a:ext cx="6048300" cy="42102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uk-UA"/>
              <a:t>Вузол Пілота </a:t>
            </a:r>
            <a:endParaRPr/>
          </a:p>
          <a:p>
            <a:pPr marL="0" lvl="0" indent="0" algn="l" rtl="0">
              <a:spcBef>
                <a:spcPts val="0"/>
              </a:spcBef>
              <a:spcAft>
                <a:spcPts val="0"/>
              </a:spcAft>
              <a:buClr>
                <a:schemeClr val="dk1"/>
              </a:buClr>
              <a:buSzPts val="1100"/>
              <a:buFont typeface="Arial"/>
              <a:buNone/>
            </a:pPr>
            <a:r>
              <a:rPr lang="uk-UA" sz="1100" b="1">
                <a:latin typeface="Arial"/>
                <a:ea typeface="Arial"/>
                <a:cs typeface="Arial"/>
                <a:sym typeface="Arial"/>
              </a:rPr>
              <a:t>Модуль керування (Joystick Manager):</a:t>
            </a:r>
            <a:r>
              <a:rPr lang="uk-UA" sz="1100">
                <a:latin typeface="Arial"/>
                <a:ea typeface="Arial"/>
                <a:cs typeface="Arial"/>
                <a:sym typeface="Arial"/>
              </a:rPr>
              <a:t> Зчитує фізичні відхилення стіків пульта.</a:t>
            </a:r>
            <a:endParaRPr sz="1100">
              <a:latin typeface="Arial"/>
              <a:ea typeface="Arial"/>
              <a:cs typeface="Arial"/>
              <a:sym typeface="Arial"/>
            </a:endParaRPr>
          </a:p>
          <a:p>
            <a:pPr marL="0" lvl="0" indent="0" algn="l" rtl="0">
              <a:spcBef>
                <a:spcPts val="0"/>
              </a:spcBef>
              <a:spcAft>
                <a:spcPts val="0"/>
              </a:spcAft>
              <a:buClr>
                <a:schemeClr val="dk1"/>
              </a:buClr>
              <a:buSzPts val="1100"/>
              <a:buFont typeface="Arial"/>
              <a:buNone/>
            </a:pPr>
            <a:r>
              <a:rPr lang="uk-UA" sz="1100" b="1">
                <a:latin typeface="Arial"/>
                <a:ea typeface="Arial"/>
                <a:cs typeface="Arial"/>
                <a:sym typeface="Arial"/>
              </a:rPr>
              <a:t>Мережевий модуль (Network Manager):</a:t>
            </a:r>
            <a:r>
              <a:rPr lang="uk-UA" sz="1100">
                <a:latin typeface="Arial"/>
                <a:ea typeface="Arial"/>
                <a:cs typeface="Arial"/>
                <a:sym typeface="Arial"/>
              </a:rPr>
              <a:t> Відповідає за збирання розрізаних чанків відео, відправку ACK-відповідей та команд керування.</a:t>
            </a:r>
            <a:endParaRPr sz="1100">
              <a:latin typeface="Arial"/>
              <a:ea typeface="Arial"/>
              <a:cs typeface="Arial"/>
              <a:sym typeface="Arial"/>
            </a:endParaRPr>
          </a:p>
          <a:p>
            <a:pPr marL="0" lvl="0" indent="0" algn="l" rtl="0">
              <a:spcBef>
                <a:spcPts val="0"/>
              </a:spcBef>
              <a:spcAft>
                <a:spcPts val="0"/>
              </a:spcAft>
              <a:buClr>
                <a:schemeClr val="dk1"/>
              </a:buClr>
              <a:buSzPts val="1100"/>
              <a:buFont typeface="Arial"/>
              <a:buNone/>
            </a:pPr>
            <a:r>
              <a:rPr lang="uk-UA" sz="1100" b="1">
                <a:latin typeface="Arial"/>
                <a:ea typeface="Arial"/>
                <a:cs typeface="Arial"/>
                <a:sym typeface="Arial"/>
              </a:rPr>
              <a:t>Модуль графічного інтерфейсу (UI / Відео декодер):</a:t>
            </a:r>
            <a:r>
              <a:rPr lang="uk-UA" sz="1100">
                <a:latin typeface="Arial"/>
                <a:ea typeface="Arial"/>
                <a:cs typeface="Arial"/>
                <a:sym typeface="Arial"/>
              </a:rPr>
              <a:t> Декодує отриманий JPEG-кадр і малює вікно з телеметрією та логами.</a:t>
            </a:r>
            <a:endParaRPr sz="1100">
              <a:latin typeface="Arial"/>
              <a:ea typeface="Arial"/>
              <a:cs typeface="Arial"/>
              <a:sym typeface="Arial"/>
            </a:endParaRPr>
          </a:p>
          <a:p>
            <a:pPr marL="0" lvl="0" indent="0" algn="l" rtl="0">
              <a:spcBef>
                <a:spcPts val="0"/>
              </a:spcBef>
              <a:spcAft>
                <a:spcPts val="0"/>
              </a:spcAft>
              <a:buNone/>
            </a:pPr>
            <a:endParaRPr/>
          </a:p>
          <a:p>
            <a:pPr marL="0" lvl="0" indent="0" algn="l" rtl="0">
              <a:spcBef>
                <a:spcPts val="0"/>
              </a:spcBef>
              <a:spcAft>
                <a:spcPts val="0"/>
              </a:spcAft>
              <a:buNone/>
            </a:pPr>
            <a:r>
              <a:rPr lang="uk-UA"/>
              <a:t>Сервер </a:t>
            </a:r>
            <a:endParaRPr/>
          </a:p>
          <a:p>
            <a:pPr marL="0" lvl="0" indent="0" algn="l" rtl="0">
              <a:spcBef>
                <a:spcPts val="0"/>
              </a:spcBef>
              <a:spcAft>
                <a:spcPts val="0"/>
              </a:spcAft>
              <a:buClr>
                <a:schemeClr val="dk1"/>
              </a:buClr>
              <a:buSzPts val="1100"/>
              <a:buFont typeface="Arial"/>
              <a:buNone/>
            </a:pPr>
            <a:r>
              <a:rPr lang="uk-UA" sz="1100" b="1">
                <a:latin typeface="Arial"/>
                <a:ea typeface="Arial"/>
                <a:cs typeface="Arial"/>
                <a:sym typeface="Arial"/>
              </a:rPr>
              <a:t>TCP-модуль авторизації:</a:t>
            </a:r>
            <a:r>
              <a:rPr lang="uk-UA" sz="1100">
                <a:latin typeface="Arial"/>
                <a:ea typeface="Arial"/>
                <a:cs typeface="Arial"/>
                <a:sym typeface="Arial"/>
              </a:rPr>
              <a:t> Приймає з'єднання, призначає унікальні ID та ролі (DRONE або PILOT).</a:t>
            </a:r>
            <a:endParaRPr sz="1100">
              <a:latin typeface="Arial"/>
              <a:ea typeface="Arial"/>
              <a:cs typeface="Arial"/>
              <a:sym typeface="Arial"/>
            </a:endParaRPr>
          </a:p>
          <a:p>
            <a:pPr marL="0" lvl="0" indent="0" algn="l" rtl="0">
              <a:spcBef>
                <a:spcPts val="0"/>
              </a:spcBef>
              <a:spcAft>
                <a:spcPts val="0"/>
              </a:spcAft>
              <a:buClr>
                <a:schemeClr val="dk1"/>
              </a:buClr>
              <a:buSzPts val="1100"/>
              <a:buFont typeface="Arial"/>
              <a:buNone/>
            </a:pPr>
            <a:r>
              <a:rPr lang="uk-UA" sz="1100" b="1">
                <a:latin typeface="Arial"/>
                <a:ea typeface="Arial"/>
                <a:cs typeface="Arial"/>
                <a:sym typeface="Arial"/>
              </a:rPr>
              <a:t>UDP-маршрутизатор:</a:t>
            </a:r>
            <a:r>
              <a:rPr lang="uk-UA" sz="1100">
                <a:latin typeface="Arial"/>
                <a:ea typeface="Arial"/>
                <a:cs typeface="Arial"/>
                <a:sym typeface="Arial"/>
              </a:rPr>
              <a:t> Безперервний цикл (hot-path), який приймає пакет від одного вузла і миттєво пересилає його іншому.</a:t>
            </a:r>
            <a:endParaRPr sz="1100">
              <a:latin typeface="Arial"/>
              <a:ea typeface="Arial"/>
              <a:cs typeface="Arial"/>
              <a:sym typeface="Arial"/>
            </a:endParaRPr>
          </a:p>
          <a:p>
            <a:pPr marL="0" lvl="0" indent="0" algn="l" rtl="0">
              <a:spcBef>
                <a:spcPts val="0"/>
              </a:spcBef>
              <a:spcAft>
                <a:spcPts val="0"/>
              </a:spcAft>
              <a:buNone/>
            </a:pPr>
            <a:br>
              <a:rPr lang="uk-UA"/>
            </a:br>
            <a:r>
              <a:rPr lang="uk-UA"/>
              <a:t>Вузол Комунікаційного пристрою</a:t>
            </a:r>
            <a:endParaRPr/>
          </a:p>
          <a:p>
            <a:pPr marL="0" lvl="0" indent="0" algn="l" rtl="0">
              <a:spcBef>
                <a:spcPts val="0"/>
              </a:spcBef>
              <a:spcAft>
                <a:spcPts val="0"/>
              </a:spcAft>
              <a:buClr>
                <a:schemeClr val="dk1"/>
              </a:buClr>
              <a:buSzPts val="1100"/>
              <a:buFont typeface="Arial"/>
              <a:buNone/>
            </a:pPr>
            <a:r>
              <a:rPr lang="uk-UA" sz="1100" b="1">
                <a:latin typeface="Arial"/>
                <a:ea typeface="Arial"/>
                <a:cs typeface="Arial"/>
                <a:sym typeface="Arial"/>
              </a:rPr>
              <a:t>Модуль камери (Camera Manager):</a:t>
            </a:r>
            <a:r>
              <a:rPr lang="uk-UA" sz="1100">
                <a:latin typeface="Arial"/>
                <a:ea typeface="Arial"/>
                <a:cs typeface="Arial"/>
                <a:sym typeface="Arial"/>
              </a:rPr>
              <a:t> Захоплення відео, оптимізація (Гаусс), кодування у Motion JPEG.</a:t>
            </a:r>
            <a:endParaRPr sz="1100">
              <a:latin typeface="Arial"/>
              <a:ea typeface="Arial"/>
              <a:cs typeface="Arial"/>
              <a:sym typeface="Arial"/>
            </a:endParaRPr>
          </a:p>
          <a:p>
            <a:pPr marL="0" lvl="0" indent="0" algn="l" rtl="0">
              <a:spcBef>
                <a:spcPts val="0"/>
              </a:spcBef>
              <a:spcAft>
                <a:spcPts val="0"/>
              </a:spcAft>
              <a:buClr>
                <a:schemeClr val="dk1"/>
              </a:buClr>
              <a:buSzPts val="1100"/>
              <a:buFont typeface="Arial"/>
              <a:buNone/>
            </a:pPr>
            <a:r>
              <a:rPr lang="uk-UA" sz="1100" b="1">
                <a:latin typeface="Arial"/>
                <a:ea typeface="Arial"/>
                <a:cs typeface="Arial"/>
                <a:sym typeface="Arial"/>
              </a:rPr>
              <a:t>Мережевий модуль (Network Manager):</a:t>
            </a:r>
            <a:r>
              <a:rPr lang="uk-UA" sz="1100">
                <a:latin typeface="Arial"/>
                <a:ea typeface="Arial"/>
                <a:cs typeface="Arial"/>
                <a:sym typeface="Arial"/>
              </a:rPr>
              <a:t> Фрагментація кадру на MTU-безпечні чанки (1300 байт), відправка відео, аналіз RTT-затримки для зміни якості (Deadband).</a:t>
            </a:r>
            <a:endParaRPr sz="1100">
              <a:latin typeface="Arial"/>
              <a:ea typeface="Arial"/>
              <a:cs typeface="Arial"/>
              <a:sym typeface="Arial"/>
            </a:endParaRPr>
          </a:p>
          <a:p>
            <a:pPr marL="0" lvl="0" indent="0" algn="l" rtl="0">
              <a:spcBef>
                <a:spcPts val="0"/>
              </a:spcBef>
              <a:spcAft>
                <a:spcPts val="0"/>
              </a:spcAft>
              <a:buClr>
                <a:schemeClr val="dk1"/>
              </a:buClr>
              <a:buSzPts val="1100"/>
              <a:buFont typeface="Arial"/>
              <a:buNone/>
            </a:pPr>
            <a:r>
              <a:rPr lang="uk-UA" sz="1100" b="1">
                <a:latin typeface="Arial"/>
                <a:ea typeface="Arial"/>
                <a:cs typeface="Arial"/>
                <a:sym typeface="Arial"/>
              </a:rPr>
              <a:t>Модуль телеметрії (Serial RX):</a:t>
            </a:r>
            <a:r>
              <a:rPr lang="uk-UA" sz="1100">
                <a:latin typeface="Arial"/>
                <a:ea typeface="Arial"/>
                <a:cs typeface="Arial"/>
                <a:sym typeface="Arial"/>
              </a:rPr>
              <a:t> Прийом UDP-команд керування, формування апаратних CRSF-пакетів та їх відправка через UART на польотний контролер.</a:t>
            </a:r>
            <a:endParaRPr sz="1100">
              <a:latin typeface="Arial"/>
              <a:ea typeface="Arial"/>
              <a:cs typeface="Arial"/>
              <a:sym typeface="Arial"/>
            </a:endParaRPr>
          </a:p>
          <a:p>
            <a:pPr marL="0" lvl="0" indent="0" algn="l" rtl="0">
              <a:spcBef>
                <a:spcPts val="0"/>
              </a:spcBef>
              <a:spcAft>
                <a:spcPts val="0"/>
              </a:spcAft>
              <a:buNone/>
            </a:pPr>
            <a:endParaRPr/>
          </a:p>
          <a:p>
            <a:pPr marL="0" lvl="0" indent="0" algn="l" rtl="0">
              <a:spcBef>
                <a:spcPts val="0"/>
              </a:spcBef>
              <a:spcAft>
                <a:spcPts val="0"/>
              </a:spcAft>
              <a:buNone/>
            </a:pPr>
            <a:br>
              <a:rPr lang="uk-UA"/>
            </a:br>
            <a:endParaRPr/>
          </a:p>
        </p:txBody>
      </p:sp>
      <p:sp>
        <p:nvSpPr>
          <p:cNvPr id="92" name="Google Shape;92;g3e87284c66a_1_45:notes"/>
          <p:cNvSpPr txBox="1">
            <a:spLocks noGrp="1"/>
          </p:cNvSpPr>
          <p:nvPr>
            <p:ph type="sldNum" idx="12"/>
          </p:nvPr>
        </p:nvSpPr>
        <p:spPr>
          <a:xfrm>
            <a:off x="4281488" y="10155238"/>
            <a:ext cx="3276600" cy="536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uk-UA"/>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3e87284c66a_1_14: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3e87284c66a_1_14:notes"/>
          <p:cNvSpPr txBox="1">
            <a:spLocks noGrp="1"/>
          </p:cNvSpPr>
          <p:nvPr>
            <p:ph type="body" idx="1"/>
          </p:nvPr>
        </p:nvSpPr>
        <p:spPr>
          <a:xfrm>
            <a:off x="755650" y="5145088"/>
            <a:ext cx="6048300" cy="42102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Clr>
                <a:schemeClr val="dk1"/>
              </a:buClr>
              <a:buFont typeface="Arial"/>
              <a:buNone/>
            </a:pPr>
            <a:r>
              <a:rPr lang="uk-UA"/>
              <a:t>Наразі пристрій комунікації складається з двох електронних девайсів які під’єднані до комп’ютера, elrs приймача (beta fpv 915 nano rx), та efwr відеоприймача, який конвертує аналогове відео частоти 5.8 гігагерц на цифрове. В основному, для управління дроном використовують elrs передавач і це має сенс, тому що пілот повинен відправляти сигнали керування дрону, а дрон має їх приймати. Проте протокол ELRS підтримує двонаправленний зв’язок приймача з передавачем. Тобто приймач на дроні теж відправляє дані до передавача. Тому для здешевлення розробки системи, було прийнято рішення перепрошити дешевший приймач, щоб його можна було використовувати як передавач. Це вдалось зробити завдяки ExpressELRS Configurator.</a:t>
            </a:r>
            <a:endParaRPr/>
          </a:p>
        </p:txBody>
      </p:sp>
      <p:sp>
        <p:nvSpPr>
          <p:cNvPr id="100" name="Google Shape;100;g3e87284c66a_1_14:notes"/>
          <p:cNvSpPr txBox="1">
            <a:spLocks noGrp="1"/>
          </p:cNvSpPr>
          <p:nvPr>
            <p:ph type="sldNum" idx="12"/>
          </p:nvPr>
        </p:nvSpPr>
        <p:spPr>
          <a:xfrm>
            <a:off x="4281488" y="10155238"/>
            <a:ext cx="3276600" cy="536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uk-UA"/>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p7: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9" name="Google Shape;109;p7: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uk-UA" sz="1100">
                <a:latin typeface="Arial"/>
                <a:ea typeface="Arial"/>
                <a:cs typeface="Arial"/>
                <a:sym typeface="Arial"/>
              </a:rPr>
              <a:t>Діаграма демонструє архітектуру транзитного сервера, який чітко розділяє ініціалізацію з'єднання та швидкісну передачу даних. Робота починається з </a:t>
            </a:r>
            <a:r>
              <a:rPr lang="uk-UA" sz="1100" b="1">
                <a:latin typeface="Arial"/>
                <a:ea typeface="Arial"/>
                <a:cs typeface="Arial"/>
                <a:sym typeface="Arial"/>
              </a:rPr>
              <a:t>TCP Listener</a:t>
            </a:r>
            <a:r>
              <a:rPr lang="uk-UA" sz="1100">
                <a:latin typeface="Arial"/>
                <a:ea typeface="Arial"/>
                <a:cs typeface="Arial"/>
                <a:sym typeface="Arial"/>
              </a:rPr>
              <a:t>, через який Пілот і Дрон підключаються до системи, при цьому Пілот надсилає команду на підключення до конкретного дрона (WATCH_VIDEO). Ця прив'язка записується до потокобезпечного центрального сховища </a:t>
            </a:r>
            <a:r>
              <a:rPr lang="uk-UA" sz="1100" b="1">
                <a:latin typeface="Arial"/>
                <a:ea typeface="Arial"/>
                <a:cs typeface="Arial"/>
                <a:sym typeface="Arial"/>
              </a:rPr>
              <a:t>Clients Map</a:t>
            </a:r>
            <a:r>
              <a:rPr lang="uk-UA" sz="1100">
                <a:latin typeface="Arial"/>
                <a:ea typeface="Arial"/>
                <a:cs typeface="Arial"/>
                <a:sym typeface="Arial"/>
              </a:rPr>
              <a:t> через Command Handler із використанням механізмів блокування (Lock) для уникнення конфліктів доступу до пам'яті.</a:t>
            </a:r>
            <a:endParaRPr sz="1100">
              <a:latin typeface="Arial"/>
              <a:ea typeface="Arial"/>
              <a:cs typeface="Arial"/>
              <a:sym typeface="Arial"/>
            </a:endParaRPr>
          </a:p>
          <a:p>
            <a:pPr marL="0" lvl="0" indent="0" algn="l" rtl="0">
              <a:lnSpc>
                <a:spcPct val="115000"/>
              </a:lnSpc>
              <a:spcBef>
                <a:spcPts val="1200"/>
              </a:spcBef>
              <a:spcAft>
                <a:spcPts val="0"/>
              </a:spcAft>
              <a:buClr>
                <a:schemeClr val="dk1"/>
              </a:buClr>
              <a:buSzPts val="1100"/>
              <a:buFont typeface="Arial"/>
              <a:buNone/>
            </a:pPr>
            <a:r>
              <a:rPr lang="uk-UA" sz="1100">
                <a:latin typeface="Arial"/>
                <a:ea typeface="Arial"/>
                <a:cs typeface="Arial"/>
                <a:sym typeface="Arial"/>
              </a:rPr>
              <a:t>Після успішної авторизації весь інтенсивний обмін даними переходить на </a:t>
            </a:r>
            <a:r>
              <a:rPr lang="uk-UA" sz="1100" b="1">
                <a:latin typeface="Arial"/>
                <a:ea typeface="Arial"/>
                <a:cs typeface="Arial"/>
                <a:sym typeface="Arial"/>
              </a:rPr>
              <a:t>UDP Listener</a:t>
            </a:r>
            <a:r>
              <a:rPr lang="uk-UA" sz="1100">
                <a:latin typeface="Arial"/>
                <a:ea typeface="Arial"/>
                <a:cs typeface="Arial"/>
                <a:sym typeface="Arial"/>
              </a:rPr>
              <a:t>. Цей модуль приймає важкі JPEG-кадри та пінги від дрона, а також команди керування (CTRL) та підтвердження (ACK) від пілота. Відразу після прийому сирі пакети передаються до модуля </a:t>
            </a:r>
            <a:r>
              <a:rPr lang="uk-UA" sz="1100" b="1">
                <a:latin typeface="Arial"/>
                <a:ea typeface="Arial"/>
                <a:cs typeface="Arial"/>
                <a:sym typeface="Arial"/>
              </a:rPr>
              <a:t>UDP Router</a:t>
            </a:r>
            <a:r>
              <a:rPr lang="uk-UA" sz="1100">
                <a:latin typeface="Arial"/>
                <a:ea typeface="Arial"/>
                <a:cs typeface="Arial"/>
                <a:sym typeface="Arial"/>
              </a:rPr>
              <a:t>. Маршрутизатор миттєво зчитує актуальні адреси отримувачів з Clients Map (через RLock) і виконує безперервну перехресну пересилку: відеопотік направляється пілоту, а команди керування та телеметрія відправляються назад на дрон.</a:t>
            </a:r>
            <a:endParaRPr sz="1100">
              <a:latin typeface="Arial"/>
              <a:ea typeface="Arial"/>
              <a:cs typeface="Arial"/>
              <a:sym typeface="Arial"/>
            </a:endParaRPr>
          </a:p>
          <a:p>
            <a:pPr marL="0" lvl="0" indent="0" algn="l" rtl="0">
              <a:spcBef>
                <a:spcPts val="1200"/>
              </a:spcBef>
              <a:spcAft>
                <a:spcPts val="0"/>
              </a:spcAft>
              <a:buNone/>
            </a:pPr>
            <a:endParaRPr/>
          </a:p>
        </p:txBody>
      </p:sp>
      <p:sp>
        <p:nvSpPr>
          <p:cNvPr id="110" name="Google Shape;110;p7: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uk-UA"/>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p8: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7" name="Google Shape;117;p8: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uk-UA">
                <a:solidFill>
                  <a:srgbClr val="1F1F1F"/>
                </a:solidFill>
                <a:latin typeface="Google Sans"/>
                <a:ea typeface="Google Sans"/>
                <a:cs typeface="Google Sans"/>
                <a:sym typeface="Google Sans"/>
              </a:rPr>
              <a:t>Клієнтський інтерфейс було розроблено за допомогою C++. Вибір був зумовлений, необхідністю малої затримки в системах реального часу.</a:t>
            </a:r>
            <a:br>
              <a:rPr lang="uk-UA">
                <a:solidFill>
                  <a:srgbClr val="1F1F1F"/>
                </a:solidFill>
                <a:latin typeface="Google Sans"/>
                <a:ea typeface="Google Sans"/>
                <a:cs typeface="Google Sans"/>
                <a:sym typeface="Google Sans"/>
              </a:rPr>
            </a:br>
            <a:r>
              <a:rPr lang="uk-UA">
                <a:solidFill>
                  <a:srgbClr val="1F1F1F"/>
                </a:solidFill>
                <a:latin typeface="Google Sans"/>
                <a:ea typeface="Google Sans"/>
                <a:cs typeface="Google Sans"/>
                <a:sym typeface="Google Sans"/>
              </a:rPr>
              <a:t>Архітектура клієнтського програмного забезпечення побудована за модульним 4-рівневим принципом, що забезпечує чіткий розподіл відповідальності між візуальним інтерфейсом користувача та прихованими апаратними процесами. Завдяки такій  ізоляції підсистем, ключові функціональні менеджери — мережа (Network), камера (Camera) та керування (Joystick) — виконуються у незалежних фонових потоках, що гарантує високу відмовостійкість усієї системи. Для того, щоб ці важкі фонові процеси не гальмували роботу графічного інтерфейсу, реалізовано механізм асинхронного обміну даними: менеджери передають інформацію до головного циклу рендерингу (який стабільно оновлюється з частотою 60 Гц) виключно через потокобезпечну атомарну shared-пам'ять. Зрештою, висока швидкість та безперебійна робота самих менеджерів досягається завдяки надійній низькорівневій інтеграції, де програма отримує прямий доступ до периферійних пристроїв і зовнішніх мереж через оптимізовані системні API, такі як Winsock2, WinMM та Serial COM-порти.</a:t>
            </a:r>
            <a:br>
              <a:rPr lang="uk-UA">
                <a:solidFill>
                  <a:srgbClr val="1F1F1F"/>
                </a:solidFill>
                <a:latin typeface="Google Sans"/>
                <a:ea typeface="Google Sans"/>
                <a:cs typeface="Google Sans"/>
                <a:sym typeface="Google Sans"/>
              </a:rPr>
            </a:br>
            <a:endParaRPr>
              <a:solidFill>
                <a:srgbClr val="1F1F1F"/>
              </a:solidFill>
              <a:latin typeface="Google Sans"/>
              <a:ea typeface="Google Sans"/>
              <a:cs typeface="Google Sans"/>
              <a:sym typeface="Google Sans"/>
            </a:endParaRPr>
          </a:p>
          <a:p>
            <a:pPr marL="0" lvl="0" indent="0" algn="l" rtl="0">
              <a:spcBef>
                <a:spcPts val="0"/>
              </a:spcBef>
              <a:spcAft>
                <a:spcPts val="0"/>
              </a:spcAft>
              <a:buNone/>
            </a:pPr>
            <a:endParaRPr/>
          </a:p>
        </p:txBody>
      </p:sp>
      <p:sp>
        <p:nvSpPr>
          <p:cNvPr id="118" name="Google Shape;118;p8: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uk-UA"/>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p9: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5" name="Google Shape;125;p9: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6" name="Google Shape;126;p9: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uk-UA"/>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12: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3" name="Google Shape;133;p12: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uk-UA" b="1"/>
              <a:t>Захоплення та препроцесинг:</a:t>
            </a:r>
            <a:r>
              <a:rPr lang="uk-UA"/>
              <a:t> Дрон отримує сирий кадр з камери, масштабує його до розміру 640x480 пікселів і застосовує фільтр розмиття (Gaussian Blur) для підвищення ефективності стиснення.</a:t>
            </a:r>
            <a:br>
              <a:rPr lang="uk-UA"/>
            </a:br>
            <a:r>
              <a:rPr lang="uk-UA" b="1"/>
              <a:t>Стиснення та фрагментація:</a:t>
            </a:r>
            <a:r>
              <a:rPr lang="uk-UA"/>
              <a:t> Кадр стискається у формат JPEG із динамічним рівнем якості, який залежить від поточної затримки мережі (RTT), після чого розбивається на фрагменти (чанки) розміром до 1300 байт.</a:t>
            </a:r>
            <a:endParaRPr/>
          </a:p>
          <a:p>
            <a:pPr marL="0" lvl="0" indent="0" algn="l" rtl="0">
              <a:spcBef>
                <a:spcPts val="0"/>
              </a:spcBef>
              <a:spcAft>
                <a:spcPts val="0"/>
              </a:spcAft>
              <a:buNone/>
            </a:pPr>
            <a:r>
              <a:rPr lang="uk-UA" b="1"/>
              <a:t>Відправка на сервер:</a:t>
            </a:r>
            <a:r>
              <a:rPr lang="uk-UA"/>
              <a:t> До кожного фрагмента додається бінарний заголовок (ID дрона, номер кадру, індекс чанка), і пакети відправляються по UDP на Relay-сервер.</a:t>
            </a:r>
            <a:endParaRPr/>
          </a:p>
          <a:p>
            <a:pPr marL="0" lvl="0" indent="0" algn="l" rtl="0">
              <a:spcBef>
                <a:spcPts val="0"/>
              </a:spcBef>
              <a:spcAft>
                <a:spcPts val="0"/>
              </a:spcAft>
              <a:buNone/>
            </a:pPr>
            <a:r>
              <a:rPr lang="uk-UA" b="1"/>
              <a:t>Ретрансляція:</a:t>
            </a:r>
            <a:r>
              <a:rPr lang="uk-UA"/>
              <a:t> Сервер зчитує ID відправника із заголовка, знаходить у базі пілота, який підписаний на цей відеопотік, і пересилає йому отримані фрагменти.</a:t>
            </a:r>
            <a:endParaRPr/>
          </a:p>
          <a:p>
            <a:pPr marL="0" lvl="0" indent="0" algn="l" rtl="0">
              <a:spcBef>
                <a:spcPts val="0"/>
              </a:spcBef>
              <a:spcAft>
                <a:spcPts val="0"/>
              </a:spcAft>
              <a:buNone/>
            </a:pPr>
            <a:r>
              <a:rPr lang="uk-UA" b="1"/>
              <a:t>Асемблювання та підтвердження:</a:t>
            </a:r>
            <a:r>
              <a:rPr lang="uk-UA"/>
              <a:t> Мережевий потік пілота збирає розрізнені фрагменти за номером кадру в єдиний JPEG-масив і відправляє дрону сигнал підтвердження (ACK) для розрахунку затримки.</a:t>
            </a:r>
            <a:endParaRPr/>
          </a:p>
          <a:p>
            <a:pPr marL="0" lvl="0" indent="0" algn="l" rtl="0">
              <a:spcBef>
                <a:spcPts val="0"/>
              </a:spcBef>
              <a:spcAft>
                <a:spcPts val="0"/>
              </a:spcAft>
              <a:buNone/>
            </a:pPr>
            <a:r>
              <a:rPr lang="uk-UA" b="1"/>
              <a:t>Декодування та рендеринг:</a:t>
            </a:r>
            <a:r>
              <a:rPr lang="uk-UA"/>
              <a:t> Головний потік програми (UI) розпаковує зібраний JPEG-масив у матрицю пікселів та виводить готове зображення на екран.</a:t>
            </a:r>
            <a:endParaRPr/>
          </a:p>
        </p:txBody>
      </p:sp>
      <p:sp>
        <p:nvSpPr>
          <p:cNvPr id="134" name="Google Shape;134;p12: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uk-UA"/>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p13: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6" name="Google Shape;156;p13: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1F1F1F"/>
              </a:buClr>
              <a:buSzPts val="1200"/>
              <a:buFont typeface="Google Sans"/>
              <a:buNone/>
            </a:pPr>
            <a:r>
              <a:rPr lang="uk-UA">
                <a:solidFill>
                  <a:srgbClr val="1F1F1F"/>
                </a:solidFill>
                <a:latin typeface="Google Sans"/>
                <a:ea typeface="Google Sans"/>
                <a:cs typeface="Google Sans"/>
                <a:sym typeface="Google Sans"/>
              </a:rPr>
              <a:t>Програма взаємодіє з апаратурою через віртуальний COM-порт, який операційна система створює для фізичного побайтового обміну даними по протоколу UART. Швидкість цього обміну визначається бодрейтом (Baud Rate), і будь-яка невідповідність цього параметра з налаштуваннями польотного контролера призведе до неможливості розшифрувати сигнал. Для передачі команд керування протокол CRSF виділяє рівно 11 біт простору на кожен із 16 каналів. Оскільки 16 помножити на 11 дорівнює 176 біт, програма за допомогою побітових зсувів ідеально упаковує ці дані у 22 стандартні 8-бітні байти корисного навантаження. Сформовані пакети безперервно відправляються в порт кожні 20 мілісекунд (50 Гц), виконуючи роль апаратного "серцебиття" для мікроконтролера. Якщо цей потік перерветься, польотний контролер зафіксує втрату зв'язку та миттєво активує аварійний режим Failsafe. Паралельно на рівні мережі програма щосекунди надсилає UDP-пакети PING, що слугують мережевим "серцебиттям" для утримання відкритих портів маршрутизаторів (NAT keep-alive).</a:t>
            </a:r>
            <a:endParaRPr/>
          </a:p>
          <a:p>
            <a:pPr marL="0" lvl="0" indent="0" algn="l" rtl="0">
              <a:spcBef>
                <a:spcPts val="0"/>
              </a:spcBef>
              <a:spcAft>
                <a:spcPts val="0"/>
              </a:spcAft>
              <a:buNone/>
            </a:pPr>
            <a:endParaRPr/>
          </a:p>
        </p:txBody>
      </p:sp>
      <p:sp>
        <p:nvSpPr>
          <p:cNvPr id="157" name="Google Shape;157;p13: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uk-UA"/>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p14:notes"/>
          <p:cNvSpPr txBox="1">
            <a:spLocks noGrp="1"/>
          </p:cNvSpPr>
          <p:nvPr>
            <p:ph type="body" idx="1"/>
          </p:nvPr>
        </p:nvSpPr>
        <p:spPr>
          <a:xfrm>
            <a:off x="755650" y="5145088"/>
            <a:ext cx="6048375" cy="42100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6" name="Google Shape;166;p14: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
        <p:cNvGrpSpPr/>
        <p:nvPr/>
      </p:nvGrpSpPr>
      <p:grpSpPr>
        <a:xfrm>
          <a:off x="0" y="0"/>
          <a:ext cx="0" cy="0"/>
          <a:chOff x="0" y="0"/>
          <a:chExt cx="0" cy="0"/>
        </a:xfrm>
      </p:grpSpPr>
      <p:sp>
        <p:nvSpPr>
          <p:cNvPr id="180" name="Google Shape;180;p15:notes"/>
          <p:cNvSpPr txBox="1">
            <a:spLocks noGrp="1"/>
          </p:cNvSpPr>
          <p:nvPr>
            <p:ph type="body" idx="1"/>
          </p:nvPr>
        </p:nvSpPr>
        <p:spPr>
          <a:xfrm>
            <a:off x="755650" y="5145088"/>
            <a:ext cx="6048375" cy="42100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1" name="Google Shape;181;p15: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3e87284c66a_1_40: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 name="Google Shape;191;g3e87284c66a_1_40:notes"/>
          <p:cNvSpPr txBox="1">
            <a:spLocks noGrp="1"/>
          </p:cNvSpPr>
          <p:nvPr>
            <p:ph type="body" idx="1"/>
          </p:nvPr>
        </p:nvSpPr>
        <p:spPr>
          <a:xfrm>
            <a:off x="755650" y="5145088"/>
            <a:ext cx="6048300" cy="42102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2" name="Google Shape;192;g3e87284c66a_1_40:notes"/>
          <p:cNvSpPr txBox="1">
            <a:spLocks noGrp="1"/>
          </p:cNvSpPr>
          <p:nvPr>
            <p:ph type="sldNum" idx="12"/>
          </p:nvPr>
        </p:nvSpPr>
        <p:spPr>
          <a:xfrm>
            <a:off x="4281488" y="10155238"/>
            <a:ext cx="3276600" cy="536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uk-UA"/>
              <a:t>16</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p:cNvGrpSpPr/>
        <p:nvPr/>
      </p:nvGrpSpPr>
      <p:grpSpPr>
        <a:xfrm>
          <a:off x="0" y="0"/>
          <a:ext cx="0" cy="0"/>
          <a:chOff x="0" y="0"/>
          <a:chExt cx="0" cy="0"/>
        </a:xfrm>
      </p:grpSpPr>
      <p:sp>
        <p:nvSpPr>
          <p:cNvPr id="198" name="Google Shape;198;p16:notes"/>
          <p:cNvSpPr txBox="1">
            <a:spLocks noGrp="1"/>
          </p:cNvSpPr>
          <p:nvPr>
            <p:ph type="body" idx="1"/>
          </p:nvPr>
        </p:nvSpPr>
        <p:spPr>
          <a:xfrm>
            <a:off x="755650" y="5145088"/>
            <a:ext cx="6048375" cy="42100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9" name="Google Shape;199;p16: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Титульний слайд" type="blank">
  <p:cSld name="BLANK">
    <p:spTree>
      <p:nvGrpSpPr>
        <p:cNvPr id="1" name="Shape 23"/>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Слайд (варіант 1)" type="blank">
  <p:cSld name="BLANK">
    <p:spTree>
      <p:nvGrpSpPr>
        <p:cNvPr id="1" name="Shape 32"/>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Титульний слайд" type="blank">
  <p:cSld name="BLANK">
    <p:spTree>
      <p:nvGrpSpPr>
        <p:cNvPr id="1" name="Shape 3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3.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
        <p:cNvGrpSpPr/>
        <p:nvPr/>
      </p:nvGrpSpPr>
      <p:grpSpPr>
        <a:xfrm>
          <a:off x="0" y="0"/>
          <a:ext cx="0" cy="0"/>
          <a:chOff x="0" y="0"/>
          <a:chExt cx="0" cy="0"/>
        </a:xfrm>
      </p:grpSpPr>
      <p:sp>
        <p:nvSpPr>
          <p:cNvPr id="10" name="Google Shape;10;p17"/>
          <p:cNvSpPr/>
          <p:nvPr/>
        </p:nvSpPr>
        <p:spPr>
          <a:xfrm>
            <a:off x="0" y="0"/>
            <a:ext cx="9143640" cy="1079640"/>
          </a:xfrm>
          <a:prstGeom prst="rect">
            <a:avLst/>
          </a:prstGeom>
          <a:solidFill>
            <a:srgbClr val="1B3A6E"/>
          </a:solidFill>
          <a:ln w="12700" cap="flat" cmpd="sng">
            <a:solidFill>
              <a:srgbClr val="325490"/>
            </a:solidFill>
            <a:prstDash val="solid"/>
            <a:miter lim="8000"/>
            <a:headEnd type="none" w="sm" len="sm"/>
            <a:tailEnd type="none" w="sm" len="sm"/>
          </a:ln>
        </p:spPr>
        <p:txBody>
          <a:bodyPr spcFirstLastPara="1" wrap="square" lIns="90000" tIns="45000" rIns="90000" bIns="450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Exo 2"/>
              <a:ea typeface="Exo 2"/>
              <a:cs typeface="Exo 2"/>
              <a:sym typeface="Exo 2"/>
            </a:endParaRPr>
          </a:p>
        </p:txBody>
      </p:sp>
      <p:pic>
        <p:nvPicPr>
          <p:cNvPr id="11" name="Google Shape;11;p17" descr="D:\КПИ\works\_ДНВР\Брендбук КПИ\Ресурс 39.png"/>
          <p:cNvPicPr preferRelativeResize="0"/>
          <p:nvPr/>
        </p:nvPicPr>
        <p:blipFill rotWithShape="1">
          <a:blip r:embed="rId3">
            <a:alphaModFix/>
          </a:blip>
          <a:srcRect l="37951" r="37951" b="45816"/>
          <a:stretch/>
        </p:blipFill>
        <p:spPr>
          <a:xfrm>
            <a:off x="88920" y="88920"/>
            <a:ext cx="719640" cy="920520"/>
          </a:xfrm>
          <a:prstGeom prst="rect">
            <a:avLst/>
          </a:prstGeom>
          <a:noFill/>
          <a:ln>
            <a:noFill/>
          </a:ln>
        </p:spPr>
      </p:pic>
      <p:grpSp>
        <p:nvGrpSpPr>
          <p:cNvPr id="12" name="Google Shape;12;p17"/>
          <p:cNvGrpSpPr/>
          <p:nvPr/>
        </p:nvGrpSpPr>
        <p:grpSpPr>
          <a:xfrm>
            <a:off x="897840" y="278640"/>
            <a:ext cx="4554720" cy="522720"/>
            <a:chOff x="897840" y="278640"/>
            <a:chExt cx="4554720" cy="522720"/>
          </a:xfrm>
        </p:grpSpPr>
        <p:pic>
          <p:nvPicPr>
            <p:cNvPr id="13" name="Google Shape;13;p17" descr="D:\КПИ\works\_ДНВР\Брендбук КПИ\Ресурс 39.png"/>
            <p:cNvPicPr preferRelativeResize="0"/>
            <p:nvPr/>
          </p:nvPicPr>
          <p:blipFill rotWithShape="1">
            <a:blip r:embed="rId3">
              <a:alphaModFix/>
            </a:blip>
            <a:srcRect l="10861" t="54678" b="36209"/>
            <a:stretch/>
          </p:blipFill>
          <p:spPr>
            <a:xfrm>
              <a:off x="897840" y="278640"/>
              <a:ext cx="4039200" cy="234720"/>
            </a:xfrm>
            <a:prstGeom prst="rect">
              <a:avLst/>
            </a:prstGeom>
            <a:noFill/>
            <a:ln>
              <a:noFill/>
            </a:ln>
          </p:spPr>
        </p:pic>
        <p:grpSp>
          <p:nvGrpSpPr>
            <p:cNvPr id="14" name="Google Shape;14;p17"/>
            <p:cNvGrpSpPr/>
            <p:nvPr/>
          </p:nvGrpSpPr>
          <p:grpSpPr>
            <a:xfrm>
              <a:off x="897840" y="566640"/>
              <a:ext cx="4554720" cy="234720"/>
              <a:chOff x="897840" y="566640"/>
              <a:chExt cx="4554720" cy="234720"/>
            </a:xfrm>
          </p:grpSpPr>
          <p:pic>
            <p:nvPicPr>
              <p:cNvPr id="15" name="Google Shape;15;p17" descr="D:\КПИ\works\_ДНВР\Брендбук КПИ\Ресурс 39.png"/>
              <p:cNvPicPr preferRelativeResize="0"/>
              <p:nvPr/>
            </p:nvPicPr>
            <p:blipFill rotWithShape="1">
              <a:blip r:embed="rId3">
                <a:alphaModFix/>
              </a:blip>
              <a:srcRect t="64284" r="41175" b="26603"/>
              <a:stretch/>
            </p:blipFill>
            <p:spPr>
              <a:xfrm>
                <a:off x="897840" y="566640"/>
                <a:ext cx="2665440" cy="234720"/>
              </a:xfrm>
              <a:prstGeom prst="rect">
                <a:avLst/>
              </a:prstGeom>
              <a:noFill/>
              <a:ln>
                <a:noFill/>
              </a:ln>
            </p:spPr>
          </p:pic>
          <p:pic>
            <p:nvPicPr>
              <p:cNvPr id="16" name="Google Shape;16;p17" descr="D:\КПИ\works\_ДНВР\Брендбук КПИ\Ресурс 39.png"/>
              <p:cNvPicPr preferRelativeResize="0"/>
              <p:nvPr/>
            </p:nvPicPr>
            <p:blipFill rotWithShape="1">
              <a:blip r:embed="rId3">
                <a:alphaModFix/>
              </a:blip>
              <a:srcRect l="58825" t="64284" b="26603"/>
              <a:stretch/>
            </p:blipFill>
            <p:spPr>
              <a:xfrm>
                <a:off x="3587040" y="566640"/>
                <a:ext cx="1865520" cy="234720"/>
              </a:xfrm>
              <a:prstGeom prst="rect">
                <a:avLst/>
              </a:prstGeom>
              <a:noFill/>
              <a:ln>
                <a:noFill/>
              </a:ln>
            </p:spPr>
          </p:pic>
        </p:grpSp>
      </p:grpSp>
      <p:sp>
        <p:nvSpPr>
          <p:cNvPr id="17" name="Google Shape;17;p17"/>
          <p:cNvSpPr txBox="1">
            <a:spLocks noGrp="1"/>
          </p:cNvSpPr>
          <p:nvPr>
            <p:ph type="body" idx="1"/>
          </p:nvPr>
        </p:nvSpPr>
        <p:spPr>
          <a:xfrm>
            <a:off x="2002680" y="3571560"/>
            <a:ext cx="5137920" cy="311400"/>
          </a:xfrm>
          <a:prstGeom prst="rect">
            <a:avLst/>
          </a:prstGeom>
          <a:noFill/>
          <a:ln>
            <a:noFill/>
          </a:ln>
        </p:spPr>
        <p:txBody>
          <a:bodyPr spcFirstLastPara="1" wrap="square" lIns="68750" tIns="34200" rIns="68750" bIns="342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Exo 2"/>
                <a:ea typeface="Exo 2"/>
                <a:cs typeface="Exo 2"/>
                <a:sym typeface="Exo 2"/>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Exo 2"/>
                <a:ea typeface="Exo 2"/>
                <a:cs typeface="Exo 2"/>
                <a:sym typeface="Exo 2"/>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Exo 2"/>
                <a:ea typeface="Exo 2"/>
                <a:cs typeface="Exo 2"/>
                <a:sym typeface="Exo 2"/>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9pPr>
          </a:lstStyle>
          <a:p>
            <a:endParaRPr/>
          </a:p>
        </p:txBody>
      </p:sp>
      <p:sp>
        <p:nvSpPr>
          <p:cNvPr id="18" name="Google Shape;18;p17"/>
          <p:cNvSpPr txBox="1">
            <a:spLocks noGrp="1"/>
          </p:cNvSpPr>
          <p:nvPr>
            <p:ph type="body" idx="2"/>
          </p:nvPr>
        </p:nvSpPr>
        <p:spPr>
          <a:xfrm>
            <a:off x="2002680" y="4062960"/>
            <a:ext cx="5137920" cy="311400"/>
          </a:xfrm>
          <a:prstGeom prst="rect">
            <a:avLst/>
          </a:prstGeom>
          <a:noFill/>
          <a:ln>
            <a:noFill/>
          </a:ln>
        </p:spPr>
        <p:txBody>
          <a:bodyPr spcFirstLastPara="1" wrap="square" lIns="68750" tIns="34200" rIns="68750" bIns="342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Exo 2"/>
                <a:ea typeface="Exo 2"/>
                <a:cs typeface="Exo 2"/>
                <a:sym typeface="Exo 2"/>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Exo 2"/>
                <a:ea typeface="Exo 2"/>
                <a:cs typeface="Exo 2"/>
                <a:sym typeface="Exo 2"/>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Exo 2"/>
                <a:ea typeface="Exo 2"/>
                <a:cs typeface="Exo 2"/>
                <a:sym typeface="Exo 2"/>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9pPr>
          </a:lstStyle>
          <a:p>
            <a:endParaRPr/>
          </a:p>
        </p:txBody>
      </p:sp>
      <p:sp>
        <p:nvSpPr>
          <p:cNvPr id="19" name="Google Shape;19;p17"/>
          <p:cNvSpPr txBox="1">
            <a:spLocks noGrp="1"/>
          </p:cNvSpPr>
          <p:nvPr>
            <p:ph type="body" idx="3"/>
          </p:nvPr>
        </p:nvSpPr>
        <p:spPr>
          <a:xfrm>
            <a:off x="1815120" y="2218680"/>
            <a:ext cx="5513400" cy="705960"/>
          </a:xfrm>
          <a:prstGeom prst="rect">
            <a:avLst/>
          </a:prstGeom>
          <a:noFill/>
          <a:ln>
            <a:noFill/>
          </a:ln>
        </p:spPr>
        <p:txBody>
          <a:bodyPr spcFirstLastPara="1" wrap="square" lIns="68750" tIns="34200" rIns="68750" bIns="342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Exo 2"/>
                <a:ea typeface="Exo 2"/>
                <a:cs typeface="Exo 2"/>
                <a:sym typeface="Exo 2"/>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Exo 2"/>
                <a:ea typeface="Exo 2"/>
                <a:cs typeface="Exo 2"/>
                <a:sym typeface="Exo 2"/>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Exo 2"/>
                <a:ea typeface="Exo 2"/>
                <a:cs typeface="Exo 2"/>
                <a:sym typeface="Exo 2"/>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9pPr>
          </a:lstStyle>
          <a:p>
            <a:endParaRPr/>
          </a:p>
        </p:txBody>
      </p:sp>
      <p:sp>
        <p:nvSpPr>
          <p:cNvPr id="20" name="Google Shape;20;p17"/>
          <p:cNvSpPr txBox="1">
            <a:spLocks noGrp="1"/>
          </p:cNvSpPr>
          <p:nvPr>
            <p:ph type="body" idx="4"/>
          </p:nvPr>
        </p:nvSpPr>
        <p:spPr>
          <a:xfrm>
            <a:off x="2002680" y="4680000"/>
            <a:ext cx="5137920" cy="311400"/>
          </a:xfrm>
          <a:prstGeom prst="rect">
            <a:avLst/>
          </a:prstGeom>
          <a:noFill/>
          <a:ln>
            <a:noFill/>
          </a:ln>
        </p:spPr>
        <p:txBody>
          <a:bodyPr spcFirstLastPara="1" wrap="square" lIns="68750" tIns="34200" rIns="68750" bIns="342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Exo 2"/>
                <a:ea typeface="Exo 2"/>
                <a:cs typeface="Exo 2"/>
                <a:sym typeface="Exo 2"/>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Exo 2"/>
                <a:ea typeface="Exo 2"/>
                <a:cs typeface="Exo 2"/>
                <a:sym typeface="Exo 2"/>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Exo 2"/>
                <a:ea typeface="Exo 2"/>
                <a:cs typeface="Exo 2"/>
                <a:sym typeface="Exo 2"/>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9pPr>
          </a:lstStyle>
          <a:p>
            <a:endParaRPr/>
          </a:p>
        </p:txBody>
      </p:sp>
      <p:sp>
        <p:nvSpPr>
          <p:cNvPr id="21" name="Google Shape;21;p17"/>
          <p:cNvSpPr txBox="1">
            <a:spLocks noGrp="1"/>
          </p:cNvSpPr>
          <p:nvPr>
            <p:ph type="body" idx="5"/>
          </p:nvPr>
        </p:nvSpPr>
        <p:spPr>
          <a:xfrm>
            <a:off x="863280" y="1260000"/>
            <a:ext cx="7416720" cy="311400"/>
          </a:xfrm>
          <a:prstGeom prst="rect">
            <a:avLst/>
          </a:prstGeom>
          <a:noFill/>
          <a:ln>
            <a:noFill/>
          </a:ln>
        </p:spPr>
        <p:txBody>
          <a:bodyPr spcFirstLastPara="1" wrap="square" lIns="68750" tIns="34200" rIns="68750" bIns="342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Exo 2"/>
                <a:ea typeface="Exo 2"/>
                <a:cs typeface="Exo 2"/>
                <a:sym typeface="Exo 2"/>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Exo 2"/>
                <a:ea typeface="Exo 2"/>
                <a:cs typeface="Exo 2"/>
                <a:sym typeface="Exo 2"/>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Exo 2"/>
                <a:ea typeface="Exo 2"/>
                <a:cs typeface="Exo 2"/>
                <a:sym typeface="Exo 2"/>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9pPr>
          </a:lstStyle>
          <a:p>
            <a:endParaRPr/>
          </a:p>
        </p:txBody>
      </p:sp>
      <p:sp>
        <p:nvSpPr>
          <p:cNvPr id="22" name="Google Shape;22;p17"/>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marR="0" lvl="0" algn="l" rtl="0">
              <a:lnSpc>
                <a:spcPct val="90000"/>
              </a:lnSpc>
              <a:spcBef>
                <a:spcPts val="0"/>
              </a:spcBef>
              <a:spcAft>
                <a:spcPts val="0"/>
              </a:spcAft>
              <a:buClr>
                <a:schemeClr val="dk1"/>
              </a:buClr>
              <a:buSzPts val="4400"/>
              <a:buFont typeface="Exo 2"/>
              <a:buNone/>
              <a:defRPr sz="4400" b="0" i="0" u="none" strike="noStrike" cap="none">
                <a:solidFill>
                  <a:schemeClr val="dk1"/>
                </a:solidFill>
                <a:latin typeface="Exo 2"/>
                <a:ea typeface="Exo 2"/>
                <a:cs typeface="Exo 2"/>
                <a:sym typeface="Exo 2"/>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4"/>
        <p:cNvGrpSpPr/>
        <p:nvPr/>
      </p:nvGrpSpPr>
      <p:grpSpPr>
        <a:xfrm>
          <a:off x="0" y="0"/>
          <a:ext cx="0" cy="0"/>
          <a:chOff x="0" y="0"/>
          <a:chExt cx="0" cy="0"/>
        </a:xfrm>
      </p:grpSpPr>
      <p:sp>
        <p:nvSpPr>
          <p:cNvPr id="25" name="Google Shape;25;p19"/>
          <p:cNvSpPr/>
          <p:nvPr/>
        </p:nvSpPr>
        <p:spPr>
          <a:xfrm>
            <a:off x="0" y="0"/>
            <a:ext cx="9143640" cy="705960"/>
          </a:xfrm>
          <a:prstGeom prst="rect">
            <a:avLst/>
          </a:prstGeom>
          <a:solidFill>
            <a:srgbClr val="1B3A6E"/>
          </a:solidFill>
          <a:ln w="12700" cap="flat" cmpd="sng">
            <a:solidFill>
              <a:srgbClr val="325490"/>
            </a:solidFill>
            <a:prstDash val="solid"/>
            <a:miter lim="8000"/>
            <a:headEnd type="none" w="sm" len="sm"/>
            <a:tailEnd type="none" w="sm" len="sm"/>
          </a:ln>
        </p:spPr>
        <p:txBody>
          <a:bodyPr spcFirstLastPara="1" wrap="square" lIns="90000" tIns="45000" rIns="90000" bIns="450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Exo 2"/>
              <a:ea typeface="Exo 2"/>
              <a:cs typeface="Exo 2"/>
              <a:sym typeface="Exo 2"/>
            </a:endParaRPr>
          </a:p>
        </p:txBody>
      </p:sp>
      <p:sp>
        <p:nvSpPr>
          <p:cNvPr id="26" name="Google Shape;26;p19"/>
          <p:cNvSpPr/>
          <p:nvPr/>
        </p:nvSpPr>
        <p:spPr>
          <a:xfrm>
            <a:off x="0" y="4611960"/>
            <a:ext cx="9143640" cy="531360"/>
          </a:xfrm>
          <a:prstGeom prst="rect">
            <a:avLst/>
          </a:prstGeom>
          <a:solidFill>
            <a:srgbClr val="1B3A6E"/>
          </a:solidFill>
          <a:ln>
            <a:noFill/>
          </a:ln>
        </p:spPr>
        <p:txBody>
          <a:bodyPr spcFirstLastPara="1" wrap="square" lIns="68750" tIns="34200" rIns="68750" bIns="342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Exo 2"/>
              <a:ea typeface="Exo 2"/>
              <a:cs typeface="Exo 2"/>
              <a:sym typeface="Exo 2"/>
            </a:endParaRPr>
          </a:p>
        </p:txBody>
      </p:sp>
      <p:sp>
        <p:nvSpPr>
          <p:cNvPr id="27" name="Google Shape;27;p19"/>
          <p:cNvSpPr txBox="1">
            <a:spLocks noGrp="1"/>
          </p:cNvSpPr>
          <p:nvPr>
            <p:ph type="body" idx="1"/>
          </p:nvPr>
        </p:nvSpPr>
        <p:spPr>
          <a:xfrm>
            <a:off x="180000" y="180000"/>
            <a:ext cx="8783640" cy="431640"/>
          </a:xfrm>
          <a:prstGeom prst="rect">
            <a:avLst/>
          </a:prstGeom>
          <a:noFill/>
          <a:ln>
            <a:noFill/>
          </a:ln>
        </p:spPr>
        <p:txBody>
          <a:bodyPr spcFirstLastPara="1" wrap="square" lIns="0" tIns="0" rIns="0" bIns="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Exo 2"/>
                <a:ea typeface="Exo 2"/>
                <a:cs typeface="Exo 2"/>
                <a:sym typeface="Exo 2"/>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Exo 2"/>
                <a:ea typeface="Exo 2"/>
                <a:cs typeface="Exo 2"/>
                <a:sym typeface="Exo 2"/>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Exo 2"/>
                <a:ea typeface="Exo 2"/>
                <a:cs typeface="Exo 2"/>
                <a:sym typeface="Exo 2"/>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9pPr>
          </a:lstStyle>
          <a:p>
            <a:endParaRPr/>
          </a:p>
        </p:txBody>
      </p:sp>
      <p:sp>
        <p:nvSpPr>
          <p:cNvPr id="28" name="Google Shape;28;p19"/>
          <p:cNvSpPr txBox="1">
            <a:spLocks noGrp="1"/>
          </p:cNvSpPr>
          <p:nvPr>
            <p:ph type="body" idx="2"/>
          </p:nvPr>
        </p:nvSpPr>
        <p:spPr>
          <a:xfrm>
            <a:off x="180000" y="900000"/>
            <a:ext cx="7416720" cy="311400"/>
          </a:xfrm>
          <a:prstGeom prst="rect">
            <a:avLst/>
          </a:prstGeom>
          <a:noFill/>
          <a:ln>
            <a:noFill/>
          </a:ln>
        </p:spPr>
        <p:txBody>
          <a:bodyPr spcFirstLastPara="1" wrap="square" lIns="68750" tIns="34200" rIns="68750" bIns="342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Exo 2"/>
                <a:ea typeface="Exo 2"/>
                <a:cs typeface="Exo 2"/>
                <a:sym typeface="Exo 2"/>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Exo 2"/>
                <a:ea typeface="Exo 2"/>
                <a:cs typeface="Exo 2"/>
                <a:sym typeface="Exo 2"/>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Exo 2"/>
                <a:ea typeface="Exo 2"/>
                <a:cs typeface="Exo 2"/>
                <a:sym typeface="Exo 2"/>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9pPr>
          </a:lstStyle>
          <a:p>
            <a:endParaRPr/>
          </a:p>
        </p:txBody>
      </p:sp>
      <p:pic>
        <p:nvPicPr>
          <p:cNvPr id="29" name="Google Shape;29;p19"/>
          <p:cNvPicPr preferRelativeResize="0"/>
          <p:nvPr/>
        </p:nvPicPr>
        <p:blipFill rotWithShape="1">
          <a:blip r:embed="rId3">
            <a:alphaModFix/>
          </a:blip>
          <a:srcRect/>
          <a:stretch/>
        </p:blipFill>
        <p:spPr>
          <a:xfrm>
            <a:off x="405720" y="4676760"/>
            <a:ext cx="297360" cy="397800"/>
          </a:xfrm>
          <a:prstGeom prst="rect">
            <a:avLst/>
          </a:prstGeom>
          <a:noFill/>
          <a:ln>
            <a:noFill/>
          </a:ln>
        </p:spPr>
      </p:pic>
      <p:sp>
        <p:nvSpPr>
          <p:cNvPr id="30" name="Google Shape;30;p19"/>
          <p:cNvSpPr/>
          <p:nvPr/>
        </p:nvSpPr>
        <p:spPr>
          <a:xfrm>
            <a:off x="703080" y="4719960"/>
            <a:ext cx="3604320" cy="311400"/>
          </a:xfrm>
          <a:prstGeom prst="rect">
            <a:avLst/>
          </a:prstGeom>
          <a:noFill/>
          <a:ln>
            <a:noFill/>
          </a:ln>
        </p:spPr>
        <p:txBody>
          <a:bodyPr spcFirstLastPara="1" wrap="square" lIns="68750" tIns="34200" rIns="68750" bIns="34200" anchor="t" anchorCtr="0">
            <a:spAutoFit/>
          </a:bodyPr>
          <a:lstStyle/>
          <a:p>
            <a:pPr marL="0" marR="0" lvl="0" indent="0" algn="l" rtl="0">
              <a:lnSpc>
                <a:spcPct val="100000"/>
              </a:lnSpc>
              <a:spcBef>
                <a:spcPts val="0"/>
              </a:spcBef>
              <a:spcAft>
                <a:spcPts val="0"/>
              </a:spcAft>
              <a:buNone/>
            </a:pPr>
            <a:r>
              <a:rPr lang="uk-UA" sz="800" b="1" i="0" u="none" strike="noStrike" cap="none">
                <a:solidFill>
                  <a:schemeClr val="lt1"/>
                </a:solidFill>
                <a:latin typeface="Exo 2"/>
                <a:ea typeface="Exo 2"/>
                <a:cs typeface="Exo 2"/>
                <a:sym typeface="Exo 2"/>
              </a:rPr>
              <a:t>Національний технічний університет України</a:t>
            </a:r>
            <a:br>
              <a:rPr lang="uk-UA" sz="800" b="0" i="0" u="none" strike="noStrike" cap="none">
                <a:solidFill>
                  <a:schemeClr val="dk1"/>
                </a:solidFill>
                <a:latin typeface="Exo 2"/>
                <a:ea typeface="Exo 2"/>
                <a:cs typeface="Exo 2"/>
                <a:sym typeface="Exo 2"/>
              </a:rPr>
            </a:br>
            <a:r>
              <a:rPr lang="uk-UA" sz="800" b="1" i="0" u="none" strike="noStrike" cap="none">
                <a:solidFill>
                  <a:schemeClr val="lt1"/>
                </a:solidFill>
                <a:latin typeface="Exo 2"/>
                <a:ea typeface="Exo 2"/>
                <a:cs typeface="Exo 2"/>
                <a:sym typeface="Exo 2"/>
              </a:rPr>
              <a:t>«Київський політехнічний інститут імені Ігоря Сікорського»</a:t>
            </a:r>
            <a:endParaRPr sz="800" b="0" i="0" u="none" strike="noStrike" cap="none">
              <a:solidFill>
                <a:srgbClr val="000000"/>
              </a:solidFill>
              <a:latin typeface="Arial"/>
              <a:ea typeface="Arial"/>
              <a:cs typeface="Arial"/>
              <a:sym typeface="Arial"/>
            </a:endParaRPr>
          </a:p>
        </p:txBody>
      </p:sp>
      <p:sp>
        <p:nvSpPr>
          <p:cNvPr id="31" name="Google Shape;31;p19"/>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marR="0" lvl="0" algn="l" rtl="0">
              <a:lnSpc>
                <a:spcPct val="90000"/>
              </a:lnSpc>
              <a:spcBef>
                <a:spcPts val="0"/>
              </a:spcBef>
              <a:spcAft>
                <a:spcPts val="0"/>
              </a:spcAft>
              <a:buClr>
                <a:schemeClr val="dk1"/>
              </a:buClr>
              <a:buSzPts val="4400"/>
              <a:buFont typeface="Exo 2"/>
              <a:buNone/>
              <a:defRPr sz="4400" b="0" i="0" u="none" strike="noStrike" cap="none">
                <a:solidFill>
                  <a:schemeClr val="dk1"/>
                </a:solidFill>
                <a:latin typeface="Exo 2"/>
                <a:ea typeface="Exo 2"/>
                <a:cs typeface="Exo 2"/>
                <a:sym typeface="Exo 2"/>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 bg1="lt1" tx1="dk1" bg2="dk2" tx2="lt2" accent1="accent1" accent2="accent2" accent3="accent3" accent4="accent4" accent5="accent5" accent6="accent6" hlink="hlink" folHlink="folHlink"/>
  <p:sldLayoutIdLst>
    <p:sldLayoutId id="214748365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1B3A6E"/>
        </a:solidFill>
        <a:effectLst/>
      </p:bgPr>
    </p:bg>
    <p:spTree>
      <p:nvGrpSpPr>
        <p:cNvPr id="1" name="Shape 33"/>
        <p:cNvGrpSpPr/>
        <p:nvPr/>
      </p:nvGrpSpPr>
      <p:grpSpPr>
        <a:xfrm>
          <a:off x="0" y="0"/>
          <a:ext cx="0" cy="0"/>
          <a:chOff x="0" y="0"/>
          <a:chExt cx="0" cy="0"/>
        </a:xfrm>
      </p:grpSpPr>
      <p:pic>
        <p:nvPicPr>
          <p:cNvPr id="34" name="Google Shape;34;p21" descr="D:\КПИ\works\_ДНВР\Брендбук КПИ\Ресурс 39.png"/>
          <p:cNvPicPr preferRelativeResize="0"/>
          <p:nvPr/>
        </p:nvPicPr>
        <p:blipFill rotWithShape="1">
          <a:blip r:embed="rId3">
            <a:alphaModFix/>
          </a:blip>
          <a:srcRect/>
          <a:stretch/>
        </p:blipFill>
        <p:spPr>
          <a:xfrm>
            <a:off x="2306160" y="1282680"/>
            <a:ext cx="4531320" cy="2577600"/>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53"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comments" Target="../comments/commen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9"/>
        <p:cNvGrpSpPr/>
        <p:nvPr/>
      </p:nvGrpSpPr>
      <p:grpSpPr>
        <a:xfrm>
          <a:off x="0" y="0"/>
          <a:ext cx="0" cy="0"/>
          <a:chOff x="0" y="0"/>
          <a:chExt cx="0" cy="0"/>
        </a:xfrm>
      </p:grpSpPr>
      <p:sp>
        <p:nvSpPr>
          <p:cNvPr id="40" name="Google Shape;40;p1"/>
          <p:cNvSpPr txBox="1">
            <a:spLocks noGrp="1"/>
          </p:cNvSpPr>
          <p:nvPr>
            <p:ph type="body" idx="4294967295"/>
          </p:nvPr>
        </p:nvSpPr>
        <p:spPr>
          <a:xfrm>
            <a:off x="972000" y="3654720"/>
            <a:ext cx="7199640" cy="359640"/>
          </a:xfrm>
          <a:prstGeom prst="rect">
            <a:avLst/>
          </a:prstGeom>
          <a:noFill/>
          <a:ln>
            <a:noFill/>
          </a:ln>
        </p:spPr>
        <p:txBody>
          <a:bodyPr spcFirstLastPara="1" wrap="square" lIns="68750" tIns="34200" rIns="68750" bIns="34200" anchor="t" anchorCtr="0">
            <a:normAutofit/>
          </a:bodyPr>
          <a:lstStyle/>
          <a:p>
            <a:pPr marL="228600" marR="0" lvl="0" indent="0" algn="ctr" rtl="0">
              <a:lnSpc>
                <a:spcPct val="90000"/>
              </a:lnSpc>
              <a:spcBef>
                <a:spcPts val="0"/>
              </a:spcBef>
              <a:spcAft>
                <a:spcPts val="0"/>
              </a:spcAft>
              <a:buClr>
                <a:schemeClr val="dk1"/>
              </a:buClr>
              <a:buSzPts val="1800"/>
              <a:buFont typeface="Arial"/>
              <a:buNone/>
            </a:pPr>
            <a:r>
              <a:rPr lang="uk-UA" sz="1800" b="0" i="0" u="none" strike="noStrike" cap="none">
                <a:solidFill>
                  <a:schemeClr val="dk1"/>
                </a:solidFill>
                <a:latin typeface="Calibri"/>
                <a:ea typeface="Calibri"/>
                <a:cs typeface="Calibri"/>
                <a:sym typeface="Calibri"/>
              </a:rPr>
              <a:t>виконав: студент групи ТВ-22 Сівоздрав Артем Миколайович</a:t>
            </a:r>
            <a:endParaRPr sz="1800" b="0" i="0" u="none" strike="noStrike" cap="none">
              <a:solidFill>
                <a:schemeClr val="dk1"/>
              </a:solidFill>
              <a:latin typeface="Exo 2"/>
              <a:ea typeface="Exo 2"/>
              <a:cs typeface="Exo 2"/>
              <a:sym typeface="Exo 2"/>
            </a:endParaRPr>
          </a:p>
        </p:txBody>
      </p:sp>
      <p:sp>
        <p:nvSpPr>
          <p:cNvPr id="41" name="Google Shape;41;p1"/>
          <p:cNvSpPr txBox="1">
            <a:spLocks noGrp="1"/>
          </p:cNvSpPr>
          <p:nvPr>
            <p:ph type="body" idx="4294967295"/>
          </p:nvPr>
        </p:nvSpPr>
        <p:spPr>
          <a:xfrm>
            <a:off x="330480" y="4132440"/>
            <a:ext cx="8482680" cy="359640"/>
          </a:xfrm>
          <a:prstGeom prst="rect">
            <a:avLst/>
          </a:prstGeom>
          <a:noFill/>
          <a:ln>
            <a:noFill/>
          </a:ln>
        </p:spPr>
        <p:txBody>
          <a:bodyPr spcFirstLastPara="1" wrap="square" lIns="68750" tIns="34200" rIns="68750" bIns="34200" anchor="t" anchorCtr="0">
            <a:noAutofit/>
          </a:bodyPr>
          <a:lstStyle/>
          <a:p>
            <a:pPr marL="228600" marR="0" lvl="0" indent="0" algn="ctr" rtl="0">
              <a:lnSpc>
                <a:spcPct val="90000"/>
              </a:lnSpc>
              <a:spcBef>
                <a:spcPts val="0"/>
              </a:spcBef>
              <a:spcAft>
                <a:spcPts val="0"/>
              </a:spcAft>
              <a:buClr>
                <a:schemeClr val="dk1"/>
              </a:buClr>
              <a:buSzPts val="1800"/>
              <a:buFont typeface="Arial"/>
              <a:buNone/>
            </a:pPr>
            <a:r>
              <a:rPr lang="uk-UA" sz="1800" b="0" i="0" u="none" strike="noStrike" cap="none">
                <a:solidFill>
                  <a:schemeClr val="dk1"/>
                </a:solidFill>
                <a:latin typeface="Calibri"/>
                <a:ea typeface="Calibri"/>
                <a:cs typeface="Calibri"/>
                <a:sym typeface="Calibri"/>
              </a:rPr>
              <a:t>керівник: ст. викладач Сарибога Ганна Володимирівна</a:t>
            </a:r>
            <a:endParaRPr sz="1800" b="0" i="0" u="none" strike="noStrike" cap="none">
              <a:solidFill>
                <a:schemeClr val="dk1"/>
              </a:solidFill>
              <a:latin typeface="Exo 2"/>
              <a:ea typeface="Exo 2"/>
              <a:cs typeface="Exo 2"/>
              <a:sym typeface="Exo 2"/>
            </a:endParaRPr>
          </a:p>
        </p:txBody>
      </p:sp>
      <p:sp>
        <p:nvSpPr>
          <p:cNvPr id="42" name="Google Shape;42;p1"/>
          <p:cNvSpPr txBox="1">
            <a:spLocks noGrp="1"/>
          </p:cNvSpPr>
          <p:nvPr>
            <p:ph type="body" idx="4294967295"/>
          </p:nvPr>
        </p:nvSpPr>
        <p:spPr>
          <a:xfrm>
            <a:off x="1815120" y="2442600"/>
            <a:ext cx="5513400" cy="705960"/>
          </a:xfrm>
          <a:prstGeom prst="rect">
            <a:avLst/>
          </a:prstGeom>
          <a:noFill/>
          <a:ln>
            <a:noFill/>
          </a:ln>
        </p:spPr>
        <p:txBody>
          <a:bodyPr spcFirstLastPara="1" wrap="square" lIns="68750" tIns="34200" rIns="68750" bIns="34200" anchor="t" anchorCtr="0">
            <a:noAutofit/>
          </a:bodyPr>
          <a:lstStyle/>
          <a:p>
            <a:pPr marL="228600" marR="0" lvl="0" indent="0" algn="ctr" rtl="0">
              <a:lnSpc>
                <a:spcPct val="85000"/>
              </a:lnSpc>
              <a:spcBef>
                <a:spcPts val="0"/>
              </a:spcBef>
              <a:spcAft>
                <a:spcPts val="0"/>
              </a:spcAft>
              <a:buClr>
                <a:srgbClr val="1B3A6E"/>
              </a:buClr>
              <a:buSzPts val="2400"/>
              <a:buFont typeface="Arial"/>
              <a:buNone/>
            </a:pPr>
            <a:r>
              <a:rPr lang="uk-UA" sz="2400" b="1" i="0" u="none" strike="noStrike" cap="none">
                <a:solidFill>
                  <a:srgbClr val="1B3A6E"/>
                </a:solidFill>
                <a:latin typeface="Calibri"/>
                <a:ea typeface="Calibri"/>
                <a:cs typeface="Calibri"/>
                <a:sym typeface="Calibri"/>
              </a:rPr>
              <a:t> РОЗРОБКА ПРОГРАМНОГО ЗАБЕЗПЕЧЕННЯ МОДЕЛЮВАННЯ ВІДДАЛЕНОГО КОНТРОЛЮ</a:t>
            </a:r>
            <a:endParaRPr sz="2400" b="0" i="0" u="none" strike="noStrike" cap="none">
              <a:solidFill>
                <a:schemeClr val="dk1"/>
              </a:solidFill>
              <a:latin typeface="Exo 2"/>
              <a:ea typeface="Exo 2"/>
              <a:cs typeface="Exo 2"/>
              <a:sym typeface="Exo 2"/>
            </a:endParaRPr>
          </a:p>
        </p:txBody>
      </p:sp>
      <p:sp>
        <p:nvSpPr>
          <p:cNvPr id="43" name="Google Shape;43;p1"/>
          <p:cNvSpPr txBox="1">
            <a:spLocks noGrp="1"/>
          </p:cNvSpPr>
          <p:nvPr>
            <p:ph type="body" idx="4294967295"/>
          </p:nvPr>
        </p:nvSpPr>
        <p:spPr>
          <a:xfrm>
            <a:off x="3942000" y="4752000"/>
            <a:ext cx="1259640" cy="287640"/>
          </a:xfrm>
          <a:prstGeom prst="rect">
            <a:avLst/>
          </a:prstGeom>
          <a:noFill/>
          <a:ln>
            <a:noFill/>
          </a:ln>
        </p:spPr>
        <p:txBody>
          <a:bodyPr spcFirstLastPara="1" wrap="square" lIns="68750" tIns="34200" rIns="68750" bIns="34200" anchor="t" anchorCtr="0">
            <a:noAutofit/>
          </a:bodyPr>
          <a:lstStyle/>
          <a:p>
            <a:pPr marL="228600" marR="0" lvl="0" indent="0" algn="ctr" rtl="0">
              <a:lnSpc>
                <a:spcPct val="90000"/>
              </a:lnSpc>
              <a:spcBef>
                <a:spcPts val="0"/>
              </a:spcBef>
              <a:spcAft>
                <a:spcPts val="0"/>
              </a:spcAft>
              <a:buClr>
                <a:schemeClr val="dk1"/>
              </a:buClr>
              <a:buSzPts val="1400"/>
              <a:buFont typeface="Arial"/>
              <a:buNone/>
            </a:pPr>
            <a:r>
              <a:rPr lang="uk-UA" sz="1400" b="0" i="0" u="none" strike="noStrike" cap="none">
                <a:solidFill>
                  <a:schemeClr val="dk1"/>
                </a:solidFill>
                <a:latin typeface="Calibri"/>
                <a:ea typeface="Calibri"/>
                <a:cs typeface="Calibri"/>
                <a:sym typeface="Calibri"/>
              </a:rPr>
              <a:t>2026 рік</a:t>
            </a:r>
            <a:endParaRPr sz="1400" b="0" i="0" u="none" strike="noStrike" cap="none">
              <a:solidFill>
                <a:schemeClr val="dk1"/>
              </a:solidFill>
              <a:latin typeface="Exo 2"/>
              <a:ea typeface="Exo 2"/>
              <a:cs typeface="Exo 2"/>
              <a:sym typeface="Exo 2"/>
            </a:endParaRPr>
          </a:p>
        </p:txBody>
      </p:sp>
      <p:sp>
        <p:nvSpPr>
          <p:cNvPr id="44" name="Google Shape;44;p1"/>
          <p:cNvSpPr txBox="1">
            <a:spLocks noGrp="1"/>
          </p:cNvSpPr>
          <p:nvPr>
            <p:ph type="body" idx="4294967295"/>
          </p:nvPr>
        </p:nvSpPr>
        <p:spPr>
          <a:xfrm>
            <a:off x="522000" y="1152000"/>
            <a:ext cx="8099640" cy="359640"/>
          </a:xfrm>
          <a:prstGeom prst="rect">
            <a:avLst/>
          </a:prstGeom>
          <a:noFill/>
          <a:ln>
            <a:noFill/>
          </a:ln>
        </p:spPr>
        <p:txBody>
          <a:bodyPr spcFirstLastPara="1" wrap="square" lIns="0" tIns="0" rIns="0" bIns="0" anchor="t" anchorCtr="0">
            <a:noAutofit/>
          </a:bodyPr>
          <a:lstStyle/>
          <a:p>
            <a:pPr marL="228600" marR="0" lvl="0" indent="0" algn="ctr" rtl="0">
              <a:lnSpc>
                <a:spcPct val="90000"/>
              </a:lnSpc>
              <a:spcBef>
                <a:spcPts val="0"/>
              </a:spcBef>
              <a:spcAft>
                <a:spcPts val="0"/>
              </a:spcAft>
              <a:buClr>
                <a:srgbClr val="1B3A6E"/>
              </a:buClr>
              <a:buSzPts val="2400"/>
              <a:buFont typeface="Arial"/>
              <a:buNone/>
            </a:pPr>
            <a:r>
              <a:rPr lang="uk-UA" sz="2400" b="0" i="0" u="none" strike="noStrike" cap="none">
                <a:solidFill>
                  <a:srgbClr val="1B3A6E"/>
                </a:solidFill>
                <a:latin typeface="Calibri"/>
                <a:ea typeface="Calibri"/>
                <a:cs typeface="Calibri"/>
                <a:sym typeface="Calibri"/>
              </a:rPr>
              <a:t>Навчально-науковий інститут атомної та теплової енергетики</a:t>
            </a:r>
            <a:endParaRPr sz="2400" b="0" i="0" u="none" strike="noStrike" cap="none">
              <a:solidFill>
                <a:schemeClr val="dk1"/>
              </a:solidFill>
              <a:latin typeface="Exo 2"/>
              <a:ea typeface="Exo 2"/>
              <a:cs typeface="Exo 2"/>
              <a:sym typeface="Exo 2"/>
            </a:endParaRPr>
          </a:p>
        </p:txBody>
      </p:sp>
      <p:sp>
        <p:nvSpPr>
          <p:cNvPr id="45" name="Google Shape;45;p1"/>
          <p:cNvSpPr/>
          <p:nvPr/>
        </p:nvSpPr>
        <p:spPr>
          <a:xfrm>
            <a:off x="522000" y="1797300"/>
            <a:ext cx="8099640" cy="359640"/>
          </a:xfrm>
          <a:prstGeom prst="rect">
            <a:avLst/>
          </a:prstGeom>
          <a:noFill/>
          <a:ln>
            <a:noFill/>
          </a:ln>
        </p:spPr>
        <p:txBody>
          <a:bodyPr spcFirstLastPara="1" wrap="square" lIns="0" tIns="0" rIns="0" bIns="0" anchor="t" anchorCtr="0">
            <a:noAutofit/>
          </a:bodyPr>
          <a:lstStyle/>
          <a:p>
            <a:pPr marL="0" marR="0" lvl="0" indent="0" algn="ctr" rtl="0">
              <a:lnSpc>
                <a:spcPct val="90000"/>
              </a:lnSpc>
              <a:spcBef>
                <a:spcPts val="0"/>
              </a:spcBef>
              <a:spcAft>
                <a:spcPts val="0"/>
              </a:spcAft>
              <a:buNone/>
            </a:pPr>
            <a:r>
              <a:rPr lang="uk-UA" sz="2200" b="0" i="0" u="none" strike="noStrike" cap="none">
                <a:solidFill>
                  <a:srgbClr val="1B3A6E"/>
                </a:solidFill>
                <a:latin typeface="Calibri"/>
                <a:ea typeface="Calibri"/>
                <a:cs typeface="Calibri"/>
                <a:sym typeface="Calibri"/>
              </a:rPr>
              <a:t>Кафедра інженерії програмного забезпечення в енергетиці</a:t>
            </a:r>
            <a:endParaRPr sz="2200" b="0" i="0" u="none" strike="noStrike" cap="non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0"/>
        <p:cNvGrpSpPr/>
        <p:nvPr/>
      </p:nvGrpSpPr>
      <p:grpSpPr>
        <a:xfrm>
          <a:off x="0" y="0"/>
          <a:ext cx="0" cy="0"/>
          <a:chOff x="0" y="0"/>
          <a:chExt cx="0" cy="0"/>
        </a:xfrm>
      </p:grpSpPr>
      <p:pic>
        <p:nvPicPr>
          <p:cNvPr id="51" name="Google Shape;51;g3e87284c66a_1_2"/>
          <p:cNvPicPr preferRelativeResize="0"/>
          <p:nvPr/>
        </p:nvPicPr>
        <p:blipFill rotWithShape="1">
          <a:blip r:embed="rId3">
            <a:alphaModFix/>
          </a:blip>
          <a:srcRect t="11918"/>
          <a:stretch/>
        </p:blipFill>
        <p:spPr>
          <a:xfrm>
            <a:off x="769450" y="1091950"/>
            <a:ext cx="6899923" cy="4051551"/>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5"/>
        <p:cNvGrpSpPr/>
        <p:nvPr/>
      </p:nvGrpSpPr>
      <p:grpSpPr>
        <a:xfrm>
          <a:off x="0" y="0"/>
          <a:ext cx="0" cy="0"/>
          <a:chOff x="0" y="0"/>
          <a:chExt cx="0" cy="0"/>
        </a:xfrm>
      </p:grpSpPr>
      <p:sp>
        <p:nvSpPr>
          <p:cNvPr id="56" name="Google Shape;56;p2"/>
          <p:cNvSpPr txBox="1">
            <a:spLocks noGrp="1"/>
          </p:cNvSpPr>
          <p:nvPr>
            <p:ph type="body" idx="4294967295"/>
          </p:nvPr>
        </p:nvSpPr>
        <p:spPr>
          <a:xfrm>
            <a:off x="180000" y="180000"/>
            <a:ext cx="8783640" cy="431640"/>
          </a:xfrm>
          <a:prstGeom prst="rect">
            <a:avLst/>
          </a:prstGeom>
          <a:noFill/>
          <a:ln>
            <a:noFill/>
          </a:ln>
        </p:spPr>
        <p:txBody>
          <a:bodyPr spcFirstLastPara="1" wrap="square" lIns="0" tIns="0" rIns="0" bIns="0" anchor="t" anchorCtr="0">
            <a:normAutofit/>
          </a:bodyPr>
          <a:lstStyle/>
          <a:p>
            <a:pPr marL="228600" marR="0" lvl="0" indent="0" algn="l" rtl="0">
              <a:lnSpc>
                <a:spcPct val="85000"/>
              </a:lnSpc>
              <a:spcBef>
                <a:spcPts val="0"/>
              </a:spcBef>
              <a:spcAft>
                <a:spcPts val="0"/>
              </a:spcAft>
              <a:buClr>
                <a:schemeClr val="lt1"/>
              </a:buClr>
              <a:buSzPts val="2800"/>
              <a:buFont typeface="Arial"/>
              <a:buNone/>
            </a:pPr>
            <a:r>
              <a:rPr lang="uk-UA" sz="2800" b="0" i="0" u="none" strike="noStrike" cap="none">
                <a:solidFill>
                  <a:schemeClr val="lt1"/>
                </a:solidFill>
                <a:latin typeface="Calibri"/>
                <a:ea typeface="Calibri"/>
                <a:cs typeface="Calibri"/>
                <a:sym typeface="Calibri"/>
              </a:rPr>
              <a:t>Мета </a:t>
            </a:r>
            <a:r>
              <a:rPr lang="uk-UA">
                <a:solidFill>
                  <a:schemeClr val="lt1"/>
                </a:solidFill>
                <a:latin typeface="Calibri"/>
                <a:ea typeface="Calibri"/>
                <a:cs typeface="Calibri"/>
                <a:sym typeface="Calibri"/>
              </a:rPr>
              <a:t>і завдання</a:t>
            </a:r>
            <a:endParaRPr sz="2800" b="0" i="0" u="none" strike="noStrike" cap="none">
              <a:solidFill>
                <a:schemeClr val="dk1"/>
              </a:solidFill>
              <a:latin typeface="Exo 2"/>
              <a:ea typeface="Exo 2"/>
              <a:cs typeface="Exo 2"/>
              <a:sym typeface="Exo 2"/>
            </a:endParaRPr>
          </a:p>
        </p:txBody>
      </p:sp>
      <p:sp>
        <p:nvSpPr>
          <p:cNvPr id="57" name="Google Shape;57;p2"/>
          <p:cNvSpPr/>
          <p:nvPr/>
        </p:nvSpPr>
        <p:spPr>
          <a:xfrm>
            <a:off x="8280000" y="4752000"/>
            <a:ext cx="719640" cy="251640"/>
          </a:xfrm>
          <a:prstGeom prst="rect">
            <a:avLst/>
          </a:prstGeom>
          <a:noFill/>
          <a:ln>
            <a:noFill/>
          </a:ln>
        </p:spPr>
        <p:txBody>
          <a:bodyPr spcFirstLastPara="1" wrap="square" lIns="0" tIns="0" rIns="0" bIns="0" anchor="t" anchorCtr="0">
            <a:noAutofit/>
          </a:bodyPr>
          <a:lstStyle/>
          <a:p>
            <a:pPr marL="0" marR="0" lvl="0" indent="0" algn="r" rtl="0">
              <a:lnSpc>
                <a:spcPct val="100000"/>
              </a:lnSpc>
              <a:spcBef>
                <a:spcPts val="0"/>
              </a:spcBef>
              <a:spcAft>
                <a:spcPts val="0"/>
              </a:spcAft>
              <a:buNone/>
            </a:pPr>
            <a:r>
              <a:rPr lang="uk-UA" sz="1200" b="0" i="0" u="none" strike="noStrike" cap="none">
                <a:solidFill>
                  <a:schemeClr val="lt1"/>
                </a:solidFill>
                <a:latin typeface="Exo 2"/>
                <a:ea typeface="Exo 2"/>
                <a:cs typeface="Exo 2"/>
                <a:sym typeface="Exo 2"/>
              </a:rPr>
              <a:t>Слайд </a:t>
            </a:r>
            <a:r>
              <a:rPr lang="uk-UA" sz="1200">
                <a:solidFill>
                  <a:schemeClr val="lt1"/>
                </a:solidFill>
                <a:latin typeface="Exo 2"/>
                <a:ea typeface="Exo 2"/>
                <a:cs typeface="Exo 2"/>
                <a:sym typeface="Exo 2"/>
              </a:rPr>
              <a:t>3</a:t>
            </a:r>
            <a:r>
              <a:rPr lang="uk-UA" sz="1200" b="0" i="0" u="none" strike="noStrike" cap="none">
                <a:solidFill>
                  <a:schemeClr val="lt1"/>
                </a:solidFill>
                <a:latin typeface="Exo 2"/>
                <a:ea typeface="Exo 2"/>
                <a:cs typeface="Exo 2"/>
                <a:sym typeface="Exo 2"/>
              </a:rPr>
              <a:t> </a:t>
            </a:r>
            <a:endParaRPr sz="1200" b="0" i="0" u="none" strike="noStrike" cap="none">
              <a:solidFill>
                <a:srgbClr val="000000"/>
              </a:solidFill>
              <a:latin typeface="Arial"/>
              <a:ea typeface="Arial"/>
              <a:cs typeface="Arial"/>
              <a:sym typeface="Arial"/>
            </a:endParaRPr>
          </a:p>
          <a:p>
            <a:pPr marL="0" marR="0" lvl="0" indent="0" algn="r" rtl="0">
              <a:lnSpc>
                <a:spcPct val="100000"/>
              </a:lnSpc>
              <a:spcBef>
                <a:spcPts val="0"/>
              </a:spcBef>
              <a:spcAft>
                <a:spcPts val="0"/>
              </a:spcAft>
              <a:buNone/>
            </a:pPr>
            <a:endParaRPr sz="1200" b="0" i="0" u="none" strike="noStrike" cap="none">
              <a:solidFill>
                <a:srgbClr val="000000"/>
              </a:solidFill>
              <a:latin typeface="Arial"/>
              <a:ea typeface="Arial"/>
              <a:cs typeface="Arial"/>
              <a:sym typeface="Arial"/>
            </a:endParaRPr>
          </a:p>
        </p:txBody>
      </p:sp>
      <p:sp>
        <p:nvSpPr>
          <p:cNvPr id="58" name="Google Shape;58;p2"/>
          <p:cNvSpPr/>
          <p:nvPr/>
        </p:nvSpPr>
        <p:spPr>
          <a:xfrm>
            <a:off x="144000" y="2300400"/>
            <a:ext cx="8783640" cy="1960920"/>
          </a:xfrm>
          <a:prstGeom prst="rect">
            <a:avLst/>
          </a:prstGeom>
          <a:noFill/>
          <a:ln>
            <a:noFill/>
          </a:ln>
        </p:spPr>
        <p:txBody>
          <a:bodyPr spcFirstLastPara="1" wrap="square" lIns="68750" tIns="34200" rIns="68750" bIns="34200" anchor="t" anchorCtr="0">
            <a:noAutofit/>
          </a:bodyPr>
          <a:lstStyle/>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59" name="Google Shape;59;p2"/>
          <p:cNvSpPr txBox="1"/>
          <p:nvPr/>
        </p:nvSpPr>
        <p:spPr>
          <a:xfrm>
            <a:off x="180000" y="900000"/>
            <a:ext cx="8820000" cy="900000"/>
          </a:xfrm>
          <a:prstGeom prst="rect">
            <a:avLst/>
          </a:prstGeom>
          <a:noFill/>
          <a:ln>
            <a:noFill/>
          </a:ln>
        </p:spPr>
        <p:txBody>
          <a:bodyPr spcFirstLastPara="1" wrap="square" lIns="90000" tIns="45000" rIns="90000" bIns="45000" anchor="t" anchorCtr="0">
            <a:noAutofit/>
          </a:bodyPr>
          <a:lstStyle/>
          <a:p>
            <a:pPr marL="0" marR="0" lvl="0" indent="0" algn="l" rtl="0">
              <a:spcBef>
                <a:spcPts val="0"/>
              </a:spcBef>
              <a:spcAft>
                <a:spcPts val="0"/>
              </a:spcAft>
              <a:buNone/>
            </a:pPr>
            <a:r>
              <a:rPr lang="uk-UA" sz="1800"/>
              <a:t>Мета роботи-розробка ПЗ моделювання віддаленого контролю БПЛА</a:t>
            </a:r>
            <a:endParaRPr/>
          </a:p>
        </p:txBody>
      </p:sp>
      <p:sp>
        <p:nvSpPr>
          <p:cNvPr id="60" name="Google Shape;60;p2"/>
          <p:cNvSpPr txBox="1"/>
          <p:nvPr/>
        </p:nvSpPr>
        <p:spPr>
          <a:xfrm>
            <a:off x="522000" y="1388400"/>
            <a:ext cx="8100000" cy="3107100"/>
          </a:xfrm>
          <a:prstGeom prst="rect">
            <a:avLst/>
          </a:prstGeom>
          <a:noFill/>
          <a:ln>
            <a:noFill/>
          </a:ln>
        </p:spPr>
        <p:txBody>
          <a:bodyPr spcFirstLastPara="1" wrap="square" lIns="90000" tIns="45000" rIns="90000" bIns="45000" anchor="t" anchorCtr="0">
            <a:noAutofit/>
          </a:bodyPr>
          <a:lstStyle/>
          <a:p>
            <a:pPr marL="457200" marR="0" lvl="0" indent="0" algn="l" rtl="0">
              <a:spcBef>
                <a:spcPts val="0"/>
              </a:spcBef>
              <a:spcAft>
                <a:spcPts val="0"/>
              </a:spcAft>
              <a:buNone/>
            </a:pPr>
            <a:r>
              <a:rPr lang="uk-UA" sz="1800"/>
              <a:t>Завдання:</a:t>
            </a:r>
            <a:endParaRPr sz="1800"/>
          </a:p>
          <a:p>
            <a:pPr marL="457200" marR="0" lvl="0" indent="0" algn="l" rtl="0">
              <a:spcBef>
                <a:spcPts val="0"/>
              </a:spcBef>
              <a:spcAft>
                <a:spcPts val="0"/>
              </a:spcAft>
              <a:buNone/>
            </a:pPr>
            <a:endParaRPr sz="1800"/>
          </a:p>
          <a:p>
            <a:pPr marL="457200" lvl="0" indent="-330200" algn="just" rtl="0">
              <a:spcBef>
                <a:spcPts val="0"/>
              </a:spcBef>
              <a:spcAft>
                <a:spcPts val="0"/>
              </a:spcAft>
              <a:buClr>
                <a:schemeClr val="dk1"/>
              </a:buClr>
              <a:buSzPts val="1600"/>
              <a:buFont typeface="Calibri"/>
              <a:buChar char="●"/>
            </a:pPr>
            <a:r>
              <a:rPr lang="uk-UA" sz="1600">
                <a:solidFill>
                  <a:schemeClr val="dk1"/>
                </a:solidFill>
                <a:latin typeface="Calibri"/>
                <a:ea typeface="Calibri"/>
                <a:cs typeface="Calibri"/>
                <a:sym typeface="Calibri"/>
              </a:rPr>
              <a:t>Аналіз предметної області;</a:t>
            </a:r>
            <a:endParaRPr sz="1600">
              <a:solidFill>
                <a:schemeClr val="dk1"/>
              </a:solidFill>
              <a:latin typeface="Calibri"/>
              <a:ea typeface="Calibri"/>
              <a:cs typeface="Calibri"/>
              <a:sym typeface="Calibri"/>
            </a:endParaRPr>
          </a:p>
          <a:p>
            <a:pPr marL="457200" lvl="0" indent="-330200" algn="just" rtl="0">
              <a:spcBef>
                <a:spcPts val="0"/>
              </a:spcBef>
              <a:spcAft>
                <a:spcPts val="0"/>
              </a:spcAft>
              <a:buClr>
                <a:schemeClr val="dk1"/>
              </a:buClr>
              <a:buSzPts val="1600"/>
              <a:buFont typeface="Calibri"/>
              <a:buChar char="●"/>
            </a:pPr>
            <a:r>
              <a:rPr lang="uk-UA" sz="1600">
                <a:solidFill>
                  <a:schemeClr val="dk1"/>
                </a:solidFill>
                <a:latin typeface="Calibri"/>
                <a:ea typeface="Calibri"/>
                <a:cs typeface="Calibri"/>
                <a:sym typeface="Calibri"/>
              </a:rPr>
              <a:t>Визначення функціональних та нефункціональних вимог;</a:t>
            </a:r>
            <a:endParaRPr sz="1600">
              <a:solidFill>
                <a:schemeClr val="dk1"/>
              </a:solidFill>
              <a:latin typeface="Calibri"/>
              <a:ea typeface="Calibri"/>
              <a:cs typeface="Calibri"/>
              <a:sym typeface="Calibri"/>
            </a:endParaRPr>
          </a:p>
          <a:p>
            <a:pPr marL="457200" lvl="0" indent="-330200" algn="just" rtl="0">
              <a:spcBef>
                <a:spcPts val="0"/>
              </a:spcBef>
              <a:spcAft>
                <a:spcPts val="0"/>
              </a:spcAft>
              <a:buClr>
                <a:schemeClr val="dk1"/>
              </a:buClr>
              <a:buSzPts val="1600"/>
              <a:buFont typeface="Calibri"/>
              <a:buChar char="●"/>
            </a:pPr>
            <a:r>
              <a:rPr lang="uk-UA" sz="1600">
                <a:solidFill>
                  <a:schemeClr val="dk1"/>
                </a:solidFill>
                <a:latin typeface="Calibri"/>
                <a:ea typeface="Calibri"/>
                <a:cs typeface="Calibri"/>
                <a:sym typeface="Calibri"/>
              </a:rPr>
              <a:t>Створення структури системи віддаленого керування БПЛА типу fpv;</a:t>
            </a:r>
            <a:endParaRPr sz="1600">
              <a:solidFill>
                <a:schemeClr val="dk1"/>
              </a:solidFill>
              <a:latin typeface="Calibri"/>
              <a:ea typeface="Calibri"/>
              <a:cs typeface="Calibri"/>
              <a:sym typeface="Calibri"/>
            </a:endParaRPr>
          </a:p>
          <a:p>
            <a:pPr marL="457200" lvl="0" indent="-330200" algn="just" rtl="0">
              <a:spcBef>
                <a:spcPts val="0"/>
              </a:spcBef>
              <a:spcAft>
                <a:spcPts val="0"/>
              </a:spcAft>
              <a:buClr>
                <a:schemeClr val="dk1"/>
              </a:buClr>
              <a:buSzPts val="1600"/>
              <a:buFont typeface="Calibri"/>
              <a:buChar char="●"/>
            </a:pPr>
            <a:r>
              <a:rPr lang="uk-UA" sz="1600">
                <a:solidFill>
                  <a:schemeClr val="dk1"/>
                </a:solidFill>
                <a:latin typeface="Calibri"/>
                <a:ea typeface="Calibri"/>
                <a:cs typeface="Calibri"/>
                <a:sym typeface="Calibri"/>
              </a:rPr>
              <a:t>Реалізація схеми фізичного передавання даних між БПЛА та пристроєм комунікації;</a:t>
            </a:r>
            <a:endParaRPr sz="1600">
              <a:solidFill>
                <a:schemeClr val="dk1"/>
              </a:solidFill>
              <a:latin typeface="Calibri"/>
              <a:ea typeface="Calibri"/>
              <a:cs typeface="Calibri"/>
              <a:sym typeface="Calibri"/>
            </a:endParaRPr>
          </a:p>
          <a:p>
            <a:pPr marL="457200" lvl="0" indent="-330200" algn="just" rtl="0">
              <a:spcBef>
                <a:spcPts val="0"/>
              </a:spcBef>
              <a:spcAft>
                <a:spcPts val="0"/>
              </a:spcAft>
              <a:buClr>
                <a:schemeClr val="dk1"/>
              </a:buClr>
              <a:buSzPts val="1600"/>
              <a:buFont typeface="Calibri"/>
              <a:buChar char="●"/>
            </a:pPr>
            <a:r>
              <a:rPr lang="uk-UA" sz="1600">
                <a:solidFill>
                  <a:schemeClr val="dk1"/>
                </a:solidFill>
                <a:latin typeface="Calibri"/>
                <a:ea typeface="Calibri"/>
                <a:cs typeface="Calibri"/>
                <a:sym typeface="Calibri"/>
              </a:rPr>
              <a:t>Розробка  системи керування дроном. Серверна частина;</a:t>
            </a:r>
            <a:endParaRPr sz="1600">
              <a:solidFill>
                <a:schemeClr val="dk1"/>
              </a:solidFill>
              <a:latin typeface="Calibri"/>
              <a:ea typeface="Calibri"/>
              <a:cs typeface="Calibri"/>
              <a:sym typeface="Calibri"/>
            </a:endParaRPr>
          </a:p>
          <a:p>
            <a:pPr marL="457200" lvl="0" indent="-330200" algn="just" rtl="0">
              <a:spcBef>
                <a:spcPts val="0"/>
              </a:spcBef>
              <a:spcAft>
                <a:spcPts val="0"/>
              </a:spcAft>
              <a:buClr>
                <a:schemeClr val="dk1"/>
              </a:buClr>
              <a:buSzPts val="1600"/>
              <a:buFont typeface="Calibri"/>
              <a:buChar char="●"/>
            </a:pPr>
            <a:r>
              <a:rPr lang="uk-UA" sz="1600">
                <a:solidFill>
                  <a:schemeClr val="dk1"/>
                </a:solidFill>
                <a:latin typeface="Calibri"/>
                <a:ea typeface="Calibri"/>
                <a:cs typeface="Calibri"/>
                <a:sym typeface="Calibri"/>
              </a:rPr>
              <a:t>Розробка ПЗ системи керування дроном. Клієнтська частина;</a:t>
            </a:r>
            <a:endParaRPr sz="1600">
              <a:solidFill>
                <a:schemeClr val="dk1"/>
              </a:solidFill>
              <a:latin typeface="Exo 2"/>
              <a:ea typeface="Exo 2"/>
              <a:cs typeface="Exo 2"/>
              <a:sym typeface="Exo 2"/>
            </a:endParaRPr>
          </a:p>
          <a:p>
            <a:pPr marL="457200" lvl="0" indent="-330200" algn="just" rtl="0">
              <a:spcBef>
                <a:spcPts val="0"/>
              </a:spcBef>
              <a:spcAft>
                <a:spcPts val="0"/>
              </a:spcAft>
              <a:buClr>
                <a:schemeClr val="dk1"/>
              </a:buClr>
              <a:buSzPts val="1600"/>
              <a:buFont typeface="Calibri"/>
              <a:buChar char="●"/>
            </a:pPr>
            <a:r>
              <a:rPr lang="uk-UA" sz="1600">
                <a:solidFill>
                  <a:schemeClr val="dk1"/>
                </a:solidFill>
                <a:latin typeface="Calibri"/>
                <a:ea typeface="Calibri"/>
                <a:cs typeface="Calibri"/>
                <a:sym typeface="Calibri"/>
              </a:rPr>
              <a:t>Опрацювання етапів обробки відеокадру;</a:t>
            </a:r>
            <a:endParaRPr sz="1600">
              <a:solidFill>
                <a:schemeClr val="dk1"/>
              </a:solidFill>
              <a:latin typeface="Calibri"/>
              <a:ea typeface="Calibri"/>
              <a:cs typeface="Calibri"/>
              <a:sym typeface="Calibri"/>
            </a:endParaRPr>
          </a:p>
          <a:p>
            <a:pPr marL="457200" lvl="0" indent="-330200" algn="just" rtl="0">
              <a:spcBef>
                <a:spcPts val="0"/>
              </a:spcBef>
              <a:spcAft>
                <a:spcPts val="0"/>
              </a:spcAft>
              <a:buClr>
                <a:schemeClr val="dk1"/>
              </a:buClr>
              <a:buSzPts val="1600"/>
              <a:buFont typeface="Calibri"/>
              <a:buChar char="●"/>
            </a:pPr>
            <a:r>
              <a:rPr lang="uk-UA" sz="1600">
                <a:solidFill>
                  <a:schemeClr val="dk1"/>
                </a:solidFill>
                <a:latin typeface="Calibri"/>
                <a:ea typeface="Calibri"/>
                <a:cs typeface="Calibri"/>
                <a:sym typeface="Calibri"/>
              </a:rPr>
              <a:t>Конструювання телеметричного кадру сrsf протоколу для керування дроном;</a:t>
            </a:r>
            <a:endParaRPr sz="1600">
              <a:solidFill>
                <a:schemeClr val="dk1"/>
              </a:solidFill>
              <a:latin typeface="Calibri"/>
              <a:ea typeface="Calibri"/>
              <a:cs typeface="Calibri"/>
              <a:sym typeface="Calibri"/>
            </a:endParaRPr>
          </a:p>
          <a:p>
            <a:pPr marL="457200" lvl="0" indent="-330200" algn="just" rtl="0">
              <a:spcBef>
                <a:spcPts val="0"/>
              </a:spcBef>
              <a:spcAft>
                <a:spcPts val="0"/>
              </a:spcAft>
              <a:buClr>
                <a:schemeClr val="dk1"/>
              </a:buClr>
              <a:buSzPts val="1600"/>
              <a:buFont typeface="Calibri"/>
              <a:buChar char="●"/>
            </a:pPr>
            <a:r>
              <a:rPr lang="uk-UA" sz="1600">
                <a:solidFill>
                  <a:schemeClr val="dk1"/>
                </a:solidFill>
                <a:latin typeface="Calibri"/>
                <a:ea typeface="Calibri"/>
                <a:cs typeface="Calibri"/>
                <a:sym typeface="Calibri"/>
              </a:rPr>
              <a:t>Тестування ПЗ та аналіз результатів тестування</a:t>
            </a:r>
            <a:endParaRPr sz="1600">
              <a:solidFill>
                <a:schemeClr val="dk1"/>
              </a:solidFill>
              <a:latin typeface="Calibri"/>
              <a:ea typeface="Calibri"/>
              <a:cs typeface="Calibri"/>
              <a:sym typeface="Calibri"/>
            </a:endParaRPr>
          </a:p>
          <a:p>
            <a:pPr marL="0" lvl="0" indent="0" algn="just" rtl="0">
              <a:spcBef>
                <a:spcPts val="0"/>
              </a:spcBef>
              <a:spcAft>
                <a:spcPts val="0"/>
              </a:spcAft>
              <a:buNone/>
            </a:pPr>
            <a:endParaRPr>
              <a:solidFill>
                <a:schemeClr val="dk1"/>
              </a:solidFill>
            </a:endParaRPr>
          </a:p>
          <a:p>
            <a:pPr marL="457200" marR="0" lvl="0" indent="0" algn="l" rtl="0">
              <a:spcBef>
                <a:spcPts val="0"/>
              </a:spcBef>
              <a:spcAft>
                <a:spcPts val="0"/>
              </a:spcAft>
              <a:buNone/>
            </a:pPr>
            <a:endParaRPr sz="1800"/>
          </a:p>
          <a:p>
            <a:pPr marL="457200" marR="0" lvl="0" indent="0" algn="l" rtl="0">
              <a:spcBef>
                <a:spcPts val="0"/>
              </a:spcBef>
              <a:spcAft>
                <a:spcPts val="0"/>
              </a:spcAft>
              <a:buNone/>
            </a:pPr>
            <a:r>
              <a:rPr lang="uk-UA" sz="1800" b="0" strike="noStrike">
                <a:solidFill>
                  <a:srgbClr val="000000"/>
                </a:solidFill>
                <a:latin typeface="Arial"/>
                <a:ea typeface="Arial"/>
                <a:cs typeface="Arial"/>
                <a:sym typeface="Arial"/>
              </a:rPr>
              <a:t> </a:t>
            </a:r>
            <a:endParaRPr sz="1800" b="0" strike="noStrike">
              <a:solidFill>
                <a:srgbClr val="000000"/>
              </a:solidFill>
              <a:latin typeface="Arial"/>
              <a:ea typeface="Arial"/>
              <a:cs typeface="Arial"/>
              <a:sym typeface="Arial"/>
            </a:endParaRPr>
          </a:p>
          <a:p>
            <a:pPr marL="457200" marR="0" lvl="0" indent="0" algn="l" rtl="0">
              <a:spcBef>
                <a:spcPts val="0"/>
              </a:spcBef>
              <a:spcAft>
                <a:spcPts val="0"/>
              </a:spcAft>
              <a:buNone/>
            </a:pP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3"/>
          <p:cNvSpPr txBox="1"/>
          <p:nvPr/>
        </p:nvSpPr>
        <p:spPr>
          <a:xfrm>
            <a:off x="180000" y="180000"/>
            <a:ext cx="8783640" cy="431640"/>
          </a:xfrm>
          <a:prstGeom prst="rect">
            <a:avLst/>
          </a:prstGeom>
          <a:noFill/>
          <a:ln>
            <a:noFill/>
          </a:ln>
        </p:spPr>
        <p:txBody>
          <a:bodyPr spcFirstLastPara="1" wrap="square" lIns="0" tIns="0" rIns="0" bIns="0" anchor="t" anchorCtr="0">
            <a:normAutofit/>
          </a:bodyPr>
          <a:lstStyle/>
          <a:p>
            <a:pPr marL="228600" marR="0" lvl="0" indent="0" algn="l" rtl="0">
              <a:lnSpc>
                <a:spcPct val="85000"/>
              </a:lnSpc>
              <a:spcBef>
                <a:spcPts val="0"/>
              </a:spcBef>
              <a:spcAft>
                <a:spcPts val="0"/>
              </a:spcAft>
              <a:buClr>
                <a:schemeClr val="dk1"/>
              </a:buClr>
              <a:buSzPts val="2800"/>
              <a:buFont typeface="Arial"/>
              <a:buNone/>
            </a:pPr>
            <a:endParaRPr sz="2800">
              <a:solidFill>
                <a:schemeClr val="dk1"/>
              </a:solidFill>
              <a:latin typeface="Exo 2"/>
              <a:ea typeface="Exo 2"/>
              <a:cs typeface="Exo 2"/>
              <a:sym typeface="Exo 2"/>
            </a:endParaRPr>
          </a:p>
        </p:txBody>
      </p:sp>
      <p:sp>
        <p:nvSpPr>
          <p:cNvPr id="67" name="Google Shape;67;p3"/>
          <p:cNvSpPr txBox="1"/>
          <p:nvPr/>
        </p:nvSpPr>
        <p:spPr>
          <a:xfrm>
            <a:off x="180000" y="180000"/>
            <a:ext cx="8783640" cy="431640"/>
          </a:xfrm>
          <a:prstGeom prst="rect">
            <a:avLst/>
          </a:prstGeom>
          <a:noFill/>
          <a:ln>
            <a:noFill/>
          </a:ln>
        </p:spPr>
        <p:txBody>
          <a:bodyPr spcFirstLastPara="1" wrap="square" lIns="0" tIns="0" rIns="0" bIns="0" anchor="t" anchorCtr="0">
            <a:normAutofit/>
          </a:bodyPr>
          <a:lstStyle/>
          <a:p>
            <a:pPr marL="228600" marR="0" lvl="0" indent="0" algn="l" rtl="0">
              <a:lnSpc>
                <a:spcPct val="85000"/>
              </a:lnSpc>
              <a:spcBef>
                <a:spcPts val="0"/>
              </a:spcBef>
              <a:spcAft>
                <a:spcPts val="0"/>
              </a:spcAft>
              <a:buClr>
                <a:schemeClr val="lt1"/>
              </a:buClr>
              <a:buSzPts val="2800"/>
              <a:buFont typeface="Arial"/>
              <a:buNone/>
            </a:pPr>
            <a:r>
              <a:rPr lang="uk-UA" sz="2800">
                <a:solidFill>
                  <a:schemeClr val="lt1"/>
                </a:solidFill>
                <a:latin typeface="Calibri"/>
                <a:ea typeface="Calibri"/>
                <a:cs typeface="Calibri"/>
                <a:sym typeface="Calibri"/>
              </a:rPr>
              <a:t>Аналіз предметної області</a:t>
            </a:r>
            <a:endParaRPr sz="2800">
              <a:solidFill>
                <a:schemeClr val="dk1"/>
              </a:solidFill>
              <a:latin typeface="Exo 2"/>
              <a:ea typeface="Exo 2"/>
              <a:cs typeface="Exo 2"/>
              <a:sym typeface="Exo 2"/>
            </a:endParaRPr>
          </a:p>
        </p:txBody>
      </p:sp>
      <p:sp>
        <p:nvSpPr>
          <p:cNvPr id="68" name="Google Shape;68;p3"/>
          <p:cNvSpPr/>
          <p:nvPr/>
        </p:nvSpPr>
        <p:spPr>
          <a:xfrm>
            <a:off x="8280000" y="4752000"/>
            <a:ext cx="719640" cy="251640"/>
          </a:xfrm>
          <a:prstGeom prst="rect">
            <a:avLst/>
          </a:prstGeom>
          <a:noFill/>
          <a:ln>
            <a:noFill/>
          </a:ln>
        </p:spPr>
        <p:txBody>
          <a:bodyPr spcFirstLastPara="1" wrap="square" lIns="0" tIns="0" rIns="0" bIns="0" anchor="t" anchorCtr="0">
            <a:noAutofit/>
          </a:bodyPr>
          <a:lstStyle/>
          <a:p>
            <a:pPr marL="0" marR="0" lvl="0" indent="0" algn="r" rtl="0">
              <a:lnSpc>
                <a:spcPct val="100000"/>
              </a:lnSpc>
              <a:spcBef>
                <a:spcPts val="0"/>
              </a:spcBef>
              <a:spcAft>
                <a:spcPts val="0"/>
              </a:spcAft>
              <a:buNone/>
            </a:pPr>
            <a:r>
              <a:rPr lang="uk-UA" sz="1200" b="0" strike="noStrike">
                <a:solidFill>
                  <a:schemeClr val="lt1"/>
                </a:solidFill>
                <a:latin typeface="Exo 2"/>
                <a:ea typeface="Exo 2"/>
                <a:cs typeface="Exo 2"/>
                <a:sym typeface="Exo 2"/>
              </a:rPr>
              <a:t>Слайд </a:t>
            </a:r>
            <a:r>
              <a:rPr lang="uk-UA" sz="1200">
                <a:solidFill>
                  <a:schemeClr val="lt1"/>
                </a:solidFill>
                <a:latin typeface="Exo 2"/>
                <a:ea typeface="Exo 2"/>
                <a:cs typeface="Exo 2"/>
                <a:sym typeface="Exo 2"/>
              </a:rPr>
              <a:t>4</a:t>
            </a:r>
            <a:r>
              <a:rPr lang="uk-UA" sz="1200" b="0" strike="noStrike">
                <a:solidFill>
                  <a:schemeClr val="lt1"/>
                </a:solidFill>
                <a:latin typeface="Exo 2"/>
                <a:ea typeface="Exo 2"/>
                <a:cs typeface="Exo 2"/>
                <a:sym typeface="Exo 2"/>
              </a:rPr>
              <a:t> </a:t>
            </a:r>
            <a:endParaRPr sz="1200" b="0" strike="noStrike">
              <a:solidFill>
                <a:srgbClr val="000000"/>
              </a:solidFill>
              <a:latin typeface="Arial"/>
              <a:ea typeface="Arial"/>
              <a:cs typeface="Arial"/>
              <a:sym typeface="Arial"/>
            </a:endParaRPr>
          </a:p>
          <a:p>
            <a:pPr marL="0" marR="0" lvl="0" indent="0" algn="r" rtl="0">
              <a:lnSpc>
                <a:spcPct val="100000"/>
              </a:lnSpc>
              <a:spcBef>
                <a:spcPts val="0"/>
              </a:spcBef>
              <a:spcAft>
                <a:spcPts val="0"/>
              </a:spcAft>
              <a:buNone/>
            </a:pPr>
            <a:endParaRPr sz="1200" b="0" strike="noStrike">
              <a:solidFill>
                <a:srgbClr val="000000"/>
              </a:solidFill>
              <a:latin typeface="Arial"/>
              <a:ea typeface="Arial"/>
              <a:cs typeface="Arial"/>
              <a:sym typeface="Arial"/>
            </a:endParaRPr>
          </a:p>
        </p:txBody>
      </p:sp>
      <p:pic>
        <p:nvPicPr>
          <p:cNvPr id="69" name="Google Shape;69;p3"/>
          <p:cNvPicPr preferRelativeResize="0"/>
          <p:nvPr/>
        </p:nvPicPr>
        <p:blipFill rotWithShape="1">
          <a:blip r:embed="rId3">
            <a:alphaModFix/>
          </a:blip>
          <a:srcRect t="12052" b="11138"/>
          <a:stretch/>
        </p:blipFill>
        <p:spPr>
          <a:xfrm>
            <a:off x="875050" y="744525"/>
            <a:ext cx="7502627" cy="384165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3"/>
        <p:cNvGrpSpPr/>
        <p:nvPr/>
      </p:nvGrpSpPr>
      <p:grpSpPr>
        <a:xfrm>
          <a:off x="0" y="0"/>
          <a:ext cx="0" cy="0"/>
          <a:chOff x="0" y="0"/>
          <a:chExt cx="0" cy="0"/>
        </a:xfrm>
      </p:grpSpPr>
      <p:sp>
        <p:nvSpPr>
          <p:cNvPr id="74" name="Google Shape;74;p5"/>
          <p:cNvSpPr txBox="1"/>
          <p:nvPr/>
        </p:nvSpPr>
        <p:spPr>
          <a:xfrm>
            <a:off x="180000" y="180000"/>
            <a:ext cx="8783640" cy="431640"/>
          </a:xfrm>
          <a:prstGeom prst="rect">
            <a:avLst/>
          </a:prstGeom>
          <a:noFill/>
          <a:ln>
            <a:noFill/>
          </a:ln>
        </p:spPr>
        <p:txBody>
          <a:bodyPr spcFirstLastPara="1" wrap="square" lIns="0" tIns="0" rIns="0" bIns="0" anchor="t" anchorCtr="0">
            <a:normAutofit/>
          </a:bodyPr>
          <a:lstStyle/>
          <a:p>
            <a:pPr marL="228600" marR="0" lvl="0" indent="0" algn="l" rtl="0">
              <a:lnSpc>
                <a:spcPct val="85000"/>
              </a:lnSpc>
              <a:spcBef>
                <a:spcPts val="0"/>
              </a:spcBef>
              <a:spcAft>
                <a:spcPts val="0"/>
              </a:spcAft>
              <a:buClr>
                <a:schemeClr val="lt1"/>
              </a:buClr>
              <a:buSzPts val="2800"/>
              <a:buFont typeface="Arial"/>
              <a:buNone/>
            </a:pPr>
            <a:r>
              <a:rPr lang="uk-UA" sz="2800">
                <a:solidFill>
                  <a:schemeClr val="lt1"/>
                </a:solidFill>
                <a:latin typeface="Calibri"/>
                <a:ea typeface="Calibri"/>
                <a:cs typeface="Calibri"/>
                <a:sym typeface="Calibri"/>
              </a:rPr>
              <a:t>Функціональні і нефункціональні вимоги </a:t>
            </a:r>
            <a:endParaRPr sz="2800">
              <a:solidFill>
                <a:schemeClr val="dk1"/>
              </a:solidFill>
              <a:latin typeface="Exo 2"/>
              <a:ea typeface="Exo 2"/>
              <a:cs typeface="Exo 2"/>
              <a:sym typeface="Exo 2"/>
            </a:endParaRPr>
          </a:p>
        </p:txBody>
      </p:sp>
      <p:sp>
        <p:nvSpPr>
          <p:cNvPr id="75" name="Google Shape;75;p5"/>
          <p:cNvSpPr txBox="1"/>
          <p:nvPr/>
        </p:nvSpPr>
        <p:spPr>
          <a:xfrm>
            <a:off x="83710" y="694583"/>
            <a:ext cx="8976300" cy="4309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uk-UA" sz="1600">
                <a:solidFill>
                  <a:schemeClr val="dk1"/>
                </a:solidFill>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0"/>
                  </a:ext>
                </a:extLst>
              </a:rPr>
              <a:t>Функціональні вимоги:</a:t>
            </a:r>
            <a:endParaRPr>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1"/>
                </a:ext>
              </a:extLst>
            </a:endParaRPr>
          </a:p>
          <a:p>
            <a:pPr marL="285750" marR="0" lvl="0" indent="-285750" algn="l" rtl="0">
              <a:spcBef>
                <a:spcPts val="0"/>
              </a:spcBef>
              <a:spcAft>
                <a:spcPts val="0"/>
              </a:spcAft>
              <a:buClr>
                <a:schemeClr val="dk1"/>
              </a:buClr>
              <a:buSzPts val="1600"/>
              <a:buFont typeface="Arial"/>
              <a:buChar char="•"/>
            </a:pPr>
            <a:r>
              <a:rPr lang="uk-UA" sz="1600">
                <a:solidFill>
                  <a:schemeClr val="dk1"/>
                </a:solidFill>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2"/>
                  </a:ext>
                </a:extLst>
              </a:rPr>
              <a:t>Керування трьома режимами роботи «дрон», «пілот» і «тест пілот»;</a:t>
            </a:r>
            <a:endParaRPr>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3"/>
                </a:ext>
              </a:extLst>
            </a:endParaRPr>
          </a:p>
          <a:p>
            <a:pPr marL="285750" marR="0" lvl="0" indent="-285750" algn="l" rtl="0">
              <a:spcBef>
                <a:spcPts val="0"/>
              </a:spcBef>
              <a:spcAft>
                <a:spcPts val="0"/>
              </a:spcAft>
              <a:buClr>
                <a:schemeClr val="dk1"/>
              </a:buClr>
              <a:buSzPts val="1600"/>
              <a:buFont typeface="Arial"/>
              <a:buChar char="•"/>
            </a:pPr>
            <a:r>
              <a:rPr lang="uk-UA" sz="1600">
                <a:solidFill>
                  <a:schemeClr val="dk1"/>
                </a:solidFill>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4"/>
                  </a:ext>
                </a:extLst>
              </a:rPr>
              <a:t>Підтримка інтерфейсу командного рядка (CLI) для керування системою;</a:t>
            </a:r>
            <a:endParaRPr sz="1600">
              <a:solidFill>
                <a:schemeClr val="dk1"/>
              </a:solidFill>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5"/>
                </a:ext>
              </a:extLst>
            </a:endParaRPr>
          </a:p>
          <a:p>
            <a:pPr marL="285750" marR="0" lvl="0" indent="-285750" algn="l" rtl="0">
              <a:spcBef>
                <a:spcPts val="0"/>
              </a:spcBef>
              <a:spcAft>
                <a:spcPts val="0"/>
              </a:spcAft>
              <a:buClr>
                <a:schemeClr val="dk1"/>
              </a:buClr>
              <a:buSzPts val="1600"/>
              <a:buFont typeface="Arial"/>
              <a:buChar char="•"/>
            </a:pPr>
            <a:r>
              <a:rPr lang="uk-UA" sz="1600">
                <a:solidFill>
                  <a:schemeClr val="dk1"/>
                </a:solidFill>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6"/>
                  </a:ext>
                </a:extLst>
              </a:rPr>
              <a:t>Захоплення, стиснення (JPEG) та відправка відео по UDP у режимі «Дрон»;</a:t>
            </a:r>
            <a:endParaRPr sz="1600">
              <a:solidFill>
                <a:schemeClr val="dk1"/>
              </a:solidFill>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7"/>
                </a:ext>
              </a:extLst>
            </a:endParaRPr>
          </a:p>
          <a:p>
            <a:pPr marL="285750" marR="0" lvl="0" indent="-285750" algn="l" rtl="0">
              <a:spcBef>
                <a:spcPts val="0"/>
              </a:spcBef>
              <a:spcAft>
                <a:spcPts val="0"/>
              </a:spcAft>
              <a:buClr>
                <a:schemeClr val="dk1"/>
              </a:buClr>
              <a:buSzPts val="1600"/>
              <a:buFont typeface="Arial"/>
              <a:buChar char="•"/>
            </a:pPr>
            <a:r>
              <a:rPr lang="uk-UA" sz="1600">
                <a:solidFill>
                  <a:schemeClr val="dk1"/>
                </a:solidFill>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8"/>
                  </a:ext>
                </a:extLst>
              </a:rPr>
              <a:t>Прийом, декодування та відображення відео по UDP у режимі «Пілот»;</a:t>
            </a:r>
            <a:endParaRPr>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9"/>
                </a:ext>
              </a:extLst>
            </a:endParaRPr>
          </a:p>
          <a:p>
            <a:pPr marL="285750" marR="0" lvl="0" indent="-285750" algn="l" rtl="0">
              <a:spcBef>
                <a:spcPts val="0"/>
              </a:spcBef>
              <a:spcAft>
                <a:spcPts val="0"/>
              </a:spcAft>
              <a:buClr>
                <a:schemeClr val="dk1"/>
              </a:buClr>
              <a:buSzPts val="1600"/>
              <a:buFont typeface="Arial"/>
              <a:buChar char="•"/>
            </a:pPr>
            <a:r>
              <a:rPr lang="uk-UA" sz="1600">
                <a:solidFill>
                  <a:schemeClr val="dk1"/>
                </a:solidFill>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10"/>
                  </a:ext>
                </a:extLst>
              </a:rPr>
              <a:t>Зчитування та конвертація даних з підключеного джойстика у формат CRSF;</a:t>
            </a:r>
            <a:endParaRPr>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11"/>
                </a:ext>
              </a:extLst>
            </a:endParaRPr>
          </a:p>
          <a:p>
            <a:pPr marL="285750" marR="0" lvl="0" indent="-285750" algn="l" rtl="0">
              <a:spcBef>
                <a:spcPts val="0"/>
              </a:spcBef>
              <a:spcAft>
                <a:spcPts val="0"/>
              </a:spcAft>
              <a:buClr>
                <a:schemeClr val="dk1"/>
              </a:buClr>
              <a:buSzPts val="1600"/>
              <a:buFont typeface="Arial"/>
              <a:buChar char="•"/>
            </a:pPr>
            <a:r>
              <a:rPr lang="uk-UA" sz="1600">
                <a:solidFill>
                  <a:schemeClr val="dk1"/>
                </a:solidFill>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12"/>
                  </a:ext>
                </a:extLst>
              </a:rPr>
              <a:t>Формування пакетів керування та прийом телеметрії через UART (Serial порт);</a:t>
            </a:r>
            <a:endParaRPr>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13"/>
                </a:ext>
              </a:extLst>
            </a:endParaRPr>
          </a:p>
          <a:p>
            <a:pPr marL="285750" marR="0" lvl="0" indent="-285750" algn="l" rtl="0">
              <a:spcBef>
                <a:spcPts val="0"/>
              </a:spcBef>
              <a:spcAft>
                <a:spcPts val="0"/>
              </a:spcAft>
              <a:buClr>
                <a:schemeClr val="dk1"/>
              </a:buClr>
              <a:buSzPts val="1600"/>
              <a:buFont typeface="Arial"/>
              <a:buChar char="•"/>
            </a:pPr>
            <a:r>
              <a:rPr lang="uk-UA" sz="1600">
                <a:solidFill>
                  <a:schemeClr val="dk1"/>
                </a:solidFill>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14"/>
                  </a:ext>
                </a:extLst>
              </a:rPr>
              <a:t>Ініціалізація TCP-з'єднання для авторизації та обміну ідентифікаторами;</a:t>
            </a:r>
            <a:endParaRPr sz="1600">
              <a:solidFill>
                <a:schemeClr val="dk1"/>
              </a:solidFill>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15"/>
                </a:ext>
              </a:extLst>
            </a:endParaRPr>
          </a:p>
          <a:p>
            <a:pPr marL="285750" marR="0" lvl="0" indent="-285750" algn="l" rtl="0">
              <a:spcBef>
                <a:spcPts val="0"/>
              </a:spcBef>
              <a:spcAft>
                <a:spcPts val="0"/>
              </a:spcAft>
              <a:buClr>
                <a:schemeClr val="dk1"/>
              </a:buClr>
              <a:buSzPts val="1600"/>
              <a:buFont typeface="Arial"/>
              <a:buChar char="•"/>
            </a:pPr>
            <a:r>
              <a:rPr lang="uk-UA" sz="1600">
                <a:solidFill>
                  <a:schemeClr val="dk1"/>
                </a:solidFill>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16"/>
                  </a:ext>
                </a:extLst>
              </a:rPr>
              <a:t>Маршрутизація даних (відео, команди, телеметрія) у реальному часі через UDP;</a:t>
            </a:r>
            <a:endParaRPr>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17"/>
                </a:ext>
              </a:extLst>
            </a:endParaRPr>
          </a:p>
          <a:p>
            <a:pPr marL="285750" marR="0" lvl="0" indent="-285750" algn="l" rtl="0">
              <a:spcBef>
                <a:spcPts val="0"/>
              </a:spcBef>
              <a:spcAft>
                <a:spcPts val="0"/>
              </a:spcAft>
              <a:buClr>
                <a:schemeClr val="dk1"/>
              </a:buClr>
              <a:buSzPts val="1600"/>
              <a:buFont typeface="Arial"/>
              <a:buChar char="•"/>
            </a:pPr>
            <a:r>
              <a:rPr lang="uk-UA" sz="1600">
                <a:solidFill>
                  <a:schemeClr val="dk1"/>
                </a:solidFill>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18"/>
                  </a:ext>
                </a:extLst>
              </a:rPr>
              <a:t>Візуалізація UI: відео, статуси 16 каналів, консоль та системні логи;</a:t>
            </a:r>
            <a:endParaRPr/>
          </a:p>
          <a:p>
            <a:pPr marL="0" marR="0" lvl="0" indent="0" algn="l" rtl="0">
              <a:spcBef>
                <a:spcPts val="0"/>
              </a:spcBef>
              <a:spcAft>
                <a:spcPts val="0"/>
              </a:spcAft>
              <a:buNone/>
            </a:pPr>
            <a:r>
              <a:rPr lang="uk-UA" sz="1600">
                <a:solidFill>
                  <a:schemeClr val="dk1"/>
                </a:solidFill>
                <a:latin typeface="Calibri"/>
                <a:ea typeface="Calibri"/>
                <a:cs typeface="Calibri"/>
                <a:sym typeface="Calibri"/>
              </a:rPr>
              <a:t>Нефункціональні вимоги</a:t>
            </a:r>
            <a:endParaRPr/>
          </a:p>
          <a:p>
            <a:pPr marL="285750" marR="0" lvl="0" indent="-285750" algn="l" rtl="0">
              <a:spcBef>
                <a:spcPts val="0"/>
              </a:spcBef>
              <a:spcAft>
                <a:spcPts val="0"/>
              </a:spcAft>
              <a:buClr>
                <a:schemeClr val="dk1"/>
              </a:buClr>
              <a:buSzPts val="1600"/>
              <a:buFont typeface="Arial"/>
              <a:buChar char="•"/>
            </a:pPr>
            <a:r>
              <a:rPr lang="uk-UA" sz="1600">
                <a:solidFill>
                  <a:schemeClr val="dk1"/>
                </a:solidFill>
                <a:latin typeface="Calibri"/>
                <a:ea typeface="Calibri"/>
                <a:cs typeface="Calibri"/>
                <a:sym typeface="Calibri"/>
              </a:rPr>
              <a:t>Надійність передачі;</a:t>
            </a:r>
            <a:endParaRPr/>
          </a:p>
          <a:p>
            <a:pPr marL="285750" marR="0" lvl="0" indent="-285750" algn="l" rtl="0">
              <a:spcBef>
                <a:spcPts val="0"/>
              </a:spcBef>
              <a:spcAft>
                <a:spcPts val="0"/>
              </a:spcAft>
              <a:buClr>
                <a:schemeClr val="dk1"/>
              </a:buClr>
              <a:buSzPts val="1600"/>
              <a:buFont typeface="Arial"/>
              <a:buChar char="•"/>
            </a:pPr>
            <a:r>
              <a:rPr lang="uk-UA" sz="1600">
                <a:solidFill>
                  <a:schemeClr val="dk1"/>
                </a:solidFill>
                <a:latin typeface="Calibri"/>
                <a:ea typeface="Calibri"/>
                <a:cs typeface="Calibri"/>
                <a:sym typeface="Calibri"/>
              </a:rPr>
              <a:t>Низька затримка 40-60мс;</a:t>
            </a:r>
            <a:endParaRPr/>
          </a:p>
          <a:p>
            <a:pPr marL="285750" marR="0" lvl="0" indent="-285750" algn="l" rtl="0">
              <a:spcBef>
                <a:spcPts val="0"/>
              </a:spcBef>
              <a:spcAft>
                <a:spcPts val="0"/>
              </a:spcAft>
              <a:buClr>
                <a:schemeClr val="dk1"/>
              </a:buClr>
              <a:buSzPts val="1600"/>
              <a:buFont typeface="Arial"/>
              <a:buChar char="•"/>
            </a:pPr>
            <a:r>
              <a:rPr lang="uk-UA" sz="1600">
                <a:solidFill>
                  <a:schemeClr val="dk1"/>
                </a:solidFill>
                <a:latin typeface="Calibri"/>
                <a:ea typeface="Calibri"/>
                <a:cs typeface="Calibri"/>
                <a:sym typeface="Calibri"/>
              </a:rPr>
              <a:t>Живучість з’єднання;</a:t>
            </a:r>
            <a:endParaRPr/>
          </a:p>
          <a:p>
            <a:pPr marL="285750" marR="0" lvl="0" indent="-285750" algn="l" rtl="0">
              <a:spcBef>
                <a:spcPts val="0"/>
              </a:spcBef>
              <a:spcAft>
                <a:spcPts val="0"/>
              </a:spcAft>
              <a:buClr>
                <a:schemeClr val="dk1"/>
              </a:buClr>
              <a:buSzPts val="1600"/>
              <a:buFont typeface="Arial"/>
              <a:buChar char="•"/>
            </a:pPr>
            <a:r>
              <a:rPr lang="uk-UA" sz="1600">
                <a:solidFill>
                  <a:schemeClr val="dk1"/>
                </a:solidFill>
                <a:latin typeface="Calibri"/>
                <a:ea typeface="Calibri"/>
                <a:cs typeface="Calibri"/>
                <a:sym typeface="Calibri"/>
              </a:rPr>
              <a:t>Безпека</a:t>
            </a:r>
            <a:endParaRPr/>
          </a:p>
          <a:p>
            <a:pPr marL="0" marR="0" lvl="0" indent="0" algn="l" rtl="0">
              <a:spcBef>
                <a:spcPts val="0"/>
              </a:spcBef>
              <a:spcAft>
                <a:spcPts val="0"/>
              </a:spcAft>
              <a:buNone/>
            </a:pPr>
            <a:endParaRPr sz="1800">
              <a:solidFill>
                <a:schemeClr val="dk1"/>
              </a:solidFill>
              <a:latin typeface="Calibri"/>
              <a:ea typeface="Calibri"/>
              <a:cs typeface="Calibri"/>
              <a:sym typeface="Calibri"/>
            </a:endParaRPr>
          </a:p>
          <a:p>
            <a:pPr marL="0" marR="0" lvl="0" indent="0" algn="l" rtl="0">
              <a:spcBef>
                <a:spcPts val="0"/>
              </a:spcBef>
              <a:spcAft>
                <a:spcPts val="0"/>
              </a:spcAft>
              <a:buNone/>
            </a:pPr>
            <a:endParaRPr sz="1600">
              <a:solidFill>
                <a:schemeClr val="dk1"/>
              </a:solidFill>
              <a:latin typeface="Calibri"/>
              <a:ea typeface="Calibri"/>
              <a:cs typeface="Calibri"/>
              <a:sym typeface="Calibri"/>
            </a:endParaRPr>
          </a:p>
        </p:txBody>
      </p:sp>
      <p:sp>
        <p:nvSpPr>
          <p:cNvPr id="76" name="Google Shape;76;p5"/>
          <p:cNvSpPr/>
          <p:nvPr/>
        </p:nvSpPr>
        <p:spPr>
          <a:xfrm>
            <a:off x="8280000" y="4752000"/>
            <a:ext cx="719640" cy="251640"/>
          </a:xfrm>
          <a:prstGeom prst="rect">
            <a:avLst/>
          </a:prstGeom>
          <a:noFill/>
          <a:ln>
            <a:noFill/>
          </a:ln>
        </p:spPr>
        <p:txBody>
          <a:bodyPr spcFirstLastPara="1" wrap="square" lIns="0" tIns="0" rIns="0" bIns="0" anchor="t" anchorCtr="0">
            <a:noAutofit/>
          </a:bodyPr>
          <a:lstStyle/>
          <a:p>
            <a:pPr marL="0" marR="0" lvl="0" indent="0" algn="r" rtl="0">
              <a:lnSpc>
                <a:spcPct val="100000"/>
              </a:lnSpc>
              <a:spcBef>
                <a:spcPts val="0"/>
              </a:spcBef>
              <a:spcAft>
                <a:spcPts val="0"/>
              </a:spcAft>
              <a:buNone/>
            </a:pPr>
            <a:r>
              <a:rPr lang="uk-UA" sz="1200" b="0" strike="noStrike" dirty="0">
                <a:solidFill>
                  <a:schemeClr val="lt1"/>
                </a:solidFill>
                <a:latin typeface="Exo 2"/>
                <a:ea typeface="Exo 2"/>
                <a:cs typeface="Exo 2"/>
                <a:sym typeface="Exo 2"/>
              </a:rPr>
              <a:t>Слайд 5 </a:t>
            </a:r>
            <a:endParaRPr sz="1200" b="0" strike="noStrike" dirty="0">
              <a:solidFill>
                <a:srgbClr val="000000"/>
              </a:solidFill>
              <a:latin typeface="Arial"/>
              <a:ea typeface="Arial"/>
              <a:cs typeface="Arial"/>
              <a:sym typeface="Arial"/>
            </a:endParaRPr>
          </a:p>
          <a:p>
            <a:pPr marL="0" marR="0" lvl="0" indent="0" algn="r" rtl="0">
              <a:lnSpc>
                <a:spcPct val="100000"/>
              </a:lnSpc>
              <a:spcBef>
                <a:spcPts val="0"/>
              </a:spcBef>
              <a:spcAft>
                <a:spcPts val="0"/>
              </a:spcAft>
              <a:buNone/>
            </a:pPr>
            <a:endParaRPr sz="1200" b="0" strike="noStrike" dirty="0">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1"/>
        <p:cNvGrpSpPr/>
        <p:nvPr/>
      </p:nvGrpSpPr>
      <p:grpSpPr>
        <a:xfrm>
          <a:off x="0" y="0"/>
          <a:ext cx="0" cy="0"/>
          <a:chOff x="0" y="0"/>
          <a:chExt cx="0" cy="0"/>
        </a:xfrm>
      </p:grpSpPr>
      <p:sp>
        <p:nvSpPr>
          <p:cNvPr id="82" name="Google Shape;82;g3e87284c66a_4_31"/>
          <p:cNvSpPr txBox="1"/>
          <p:nvPr/>
        </p:nvSpPr>
        <p:spPr>
          <a:xfrm>
            <a:off x="180000" y="180000"/>
            <a:ext cx="8783700" cy="431700"/>
          </a:xfrm>
          <a:prstGeom prst="rect">
            <a:avLst/>
          </a:prstGeom>
          <a:noFill/>
          <a:ln>
            <a:noFill/>
          </a:ln>
        </p:spPr>
        <p:txBody>
          <a:bodyPr spcFirstLastPara="1" wrap="square" lIns="0" tIns="0" rIns="0" bIns="0" anchor="t" anchorCtr="0">
            <a:normAutofit/>
          </a:bodyPr>
          <a:lstStyle/>
          <a:p>
            <a:pPr marL="228600" marR="0" lvl="0" indent="0" algn="l" rtl="0">
              <a:lnSpc>
                <a:spcPct val="85000"/>
              </a:lnSpc>
              <a:spcBef>
                <a:spcPts val="0"/>
              </a:spcBef>
              <a:spcAft>
                <a:spcPts val="0"/>
              </a:spcAft>
              <a:buClr>
                <a:schemeClr val="lt1"/>
              </a:buClr>
              <a:buSzPts val="2800"/>
              <a:buFont typeface="Arial"/>
              <a:buNone/>
            </a:pPr>
            <a:r>
              <a:rPr lang="uk-UA" sz="2800">
                <a:solidFill>
                  <a:schemeClr val="lt1"/>
                </a:solidFill>
                <a:latin typeface="Calibri"/>
                <a:ea typeface="Calibri"/>
                <a:cs typeface="Calibri"/>
                <a:sym typeface="Calibri"/>
              </a:rPr>
              <a:t>Технологічний стек </a:t>
            </a:r>
            <a:endParaRPr sz="2800">
              <a:solidFill>
                <a:schemeClr val="dk1"/>
              </a:solidFill>
              <a:latin typeface="Exo 2"/>
              <a:ea typeface="Exo 2"/>
              <a:cs typeface="Exo 2"/>
              <a:sym typeface="Exo 2"/>
            </a:endParaRPr>
          </a:p>
        </p:txBody>
      </p:sp>
      <p:pic>
        <p:nvPicPr>
          <p:cNvPr id="83" name="Google Shape;83;g3e87284c66a_4_31"/>
          <p:cNvPicPr preferRelativeResize="0"/>
          <p:nvPr/>
        </p:nvPicPr>
        <p:blipFill>
          <a:blip r:embed="rId3">
            <a:alphaModFix/>
          </a:blip>
          <a:stretch>
            <a:fillRect/>
          </a:stretch>
        </p:blipFill>
        <p:spPr>
          <a:xfrm>
            <a:off x="1525800" y="1358125"/>
            <a:ext cx="889475" cy="1000899"/>
          </a:xfrm>
          <a:prstGeom prst="rect">
            <a:avLst/>
          </a:prstGeom>
          <a:noFill/>
          <a:ln>
            <a:noFill/>
          </a:ln>
        </p:spPr>
      </p:pic>
      <p:pic>
        <p:nvPicPr>
          <p:cNvPr id="84" name="Google Shape;84;g3e87284c66a_4_31"/>
          <p:cNvPicPr preferRelativeResize="0"/>
          <p:nvPr/>
        </p:nvPicPr>
        <p:blipFill>
          <a:blip r:embed="rId4">
            <a:alphaModFix/>
          </a:blip>
          <a:stretch>
            <a:fillRect/>
          </a:stretch>
        </p:blipFill>
        <p:spPr>
          <a:xfrm>
            <a:off x="3401150" y="1496002"/>
            <a:ext cx="1953250" cy="725150"/>
          </a:xfrm>
          <a:prstGeom prst="rect">
            <a:avLst/>
          </a:prstGeom>
          <a:noFill/>
          <a:ln>
            <a:noFill/>
          </a:ln>
        </p:spPr>
      </p:pic>
      <p:pic>
        <p:nvPicPr>
          <p:cNvPr id="85" name="Google Shape;85;g3e87284c66a_4_31"/>
          <p:cNvPicPr preferRelativeResize="0"/>
          <p:nvPr/>
        </p:nvPicPr>
        <p:blipFill rotWithShape="1">
          <a:blip r:embed="rId5">
            <a:alphaModFix/>
          </a:blip>
          <a:srcRect l="30624" t="16067" r="31985" b="16539"/>
          <a:stretch/>
        </p:blipFill>
        <p:spPr>
          <a:xfrm>
            <a:off x="6340275" y="1319750"/>
            <a:ext cx="1326999" cy="1255700"/>
          </a:xfrm>
          <a:prstGeom prst="rect">
            <a:avLst/>
          </a:prstGeom>
          <a:noFill/>
          <a:ln>
            <a:noFill/>
          </a:ln>
        </p:spPr>
      </p:pic>
      <p:pic>
        <p:nvPicPr>
          <p:cNvPr id="86" name="Google Shape;86;g3e87284c66a_4_31"/>
          <p:cNvPicPr preferRelativeResize="0"/>
          <p:nvPr/>
        </p:nvPicPr>
        <p:blipFill rotWithShape="1">
          <a:blip r:embed="rId6">
            <a:alphaModFix/>
          </a:blip>
          <a:srcRect l="22996" r="24262"/>
          <a:stretch/>
        </p:blipFill>
        <p:spPr>
          <a:xfrm>
            <a:off x="824133" y="2841850"/>
            <a:ext cx="1096676" cy="1169626"/>
          </a:xfrm>
          <a:prstGeom prst="rect">
            <a:avLst/>
          </a:prstGeom>
          <a:noFill/>
          <a:ln>
            <a:noFill/>
          </a:ln>
        </p:spPr>
      </p:pic>
      <p:pic>
        <p:nvPicPr>
          <p:cNvPr id="87" name="Google Shape;87;g3e87284c66a_4_31"/>
          <p:cNvPicPr preferRelativeResize="0"/>
          <p:nvPr/>
        </p:nvPicPr>
        <p:blipFill>
          <a:blip r:embed="rId7">
            <a:alphaModFix/>
          </a:blip>
          <a:stretch>
            <a:fillRect/>
          </a:stretch>
        </p:blipFill>
        <p:spPr>
          <a:xfrm>
            <a:off x="3092019" y="2792276"/>
            <a:ext cx="1219200" cy="1219200"/>
          </a:xfrm>
          <a:prstGeom prst="rect">
            <a:avLst/>
          </a:prstGeom>
          <a:noFill/>
          <a:ln>
            <a:noFill/>
          </a:ln>
        </p:spPr>
      </p:pic>
      <p:pic>
        <p:nvPicPr>
          <p:cNvPr id="88" name="Google Shape;88;g3e87284c66a_4_31"/>
          <p:cNvPicPr preferRelativeResize="0"/>
          <p:nvPr/>
        </p:nvPicPr>
        <p:blipFill>
          <a:blip r:embed="rId8">
            <a:alphaModFix/>
          </a:blip>
          <a:stretch>
            <a:fillRect/>
          </a:stretch>
        </p:blipFill>
        <p:spPr>
          <a:xfrm>
            <a:off x="5482429" y="2841850"/>
            <a:ext cx="949003" cy="1255700"/>
          </a:xfrm>
          <a:prstGeom prst="rect">
            <a:avLst/>
          </a:prstGeom>
          <a:noFill/>
          <a:ln>
            <a:noFill/>
          </a:ln>
        </p:spPr>
      </p:pic>
      <p:sp>
        <p:nvSpPr>
          <p:cNvPr id="2" name="Google Shape;76;p5">
            <a:extLst>
              <a:ext uri="{FF2B5EF4-FFF2-40B4-BE49-F238E27FC236}">
                <a16:creationId xmlns:a16="http://schemas.microsoft.com/office/drawing/2014/main" id="{A0278122-7694-ABA5-7AE7-B269CB1FDD6B}"/>
              </a:ext>
            </a:extLst>
          </p:cNvPr>
          <p:cNvSpPr/>
          <p:nvPr/>
        </p:nvSpPr>
        <p:spPr>
          <a:xfrm>
            <a:off x="8280000" y="4752000"/>
            <a:ext cx="719640" cy="251640"/>
          </a:xfrm>
          <a:prstGeom prst="rect">
            <a:avLst/>
          </a:prstGeom>
          <a:noFill/>
          <a:ln>
            <a:noFill/>
          </a:ln>
        </p:spPr>
        <p:txBody>
          <a:bodyPr spcFirstLastPara="1" wrap="square" lIns="0" tIns="0" rIns="0" bIns="0" anchor="t" anchorCtr="0">
            <a:noAutofit/>
          </a:bodyPr>
          <a:lstStyle/>
          <a:p>
            <a:pPr marL="0" marR="0" lvl="0" indent="0" algn="r" rtl="0">
              <a:lnSpc>
                <a:spcPct val="100000"/>
              </a:lnSpc>
              <a:spcBef>
                <a:spcPts val="0"/>
              </a:spcBef>
              <a:spcAft>
                <a:spcPts val="0"/>
              </a:spcAft>
              <a:buNone/>
            </a:pPr>
            <a:r>
              <a:rPr lang="uk-UA" sz="1200" b="0" strike="noStrike" dirty="0">
                <a:solidFill>
                  <a:schemeClr val="lt1"/>
                </a:solidFill>
                <a:latin typeface="Exo 2"/>
                <a:ea typeface="Exo 2"/>
                <a:cs typeface="Exo 2"/>
                <a:sym typeface="Exo 2"/>
              </a:rPr>
              <a:t>Слайд </a:t>
            </a:r>
            <a:r>
              <a:rPr lang="en-US" sz="1200" b="0" strike="noStrike" dirty="0">
                <a:solidFill>
                  <a:schemeClr val="lt1"/>
                </a:solidFill>
                <a:latin typeface="Exo 2"/>
                <a:ea typeface="Exo 2"/>
                <a:cs typeface="Exo 2"/>
                <a:sym typeface="Exo 2"/>
              </a:rPr>
              <a:t>6</a:t>
            </a:r>
            <a:r>
              <a:rPr lang="uk-UA" sz="1200" b="0" strike="noStrike" dirty="0">
                <a:solidFill>
                  <a:schemeClr val="lt1"/>
                </a:solidFill>
                <a:latin typeface="Exo 2"/>
                <a:ea typeface="Exo 2"/>
                <a:cs typeface="Exo 2"/>
                <a:sym typeface="Exo 2"/>
              </a:rPr>
              <a:t> </a:t>
            </a:r>
            <a:endParaRPr sz="1200" b="0" strike="noStrike" dirty="0">
              <a:solidFill>
                <a:srgbClr val="000000"/>
              </a:solidFill>
              <a:latin typeface="Arial"/>
              <a:ea typeface="Arial"/>
              <a:cs typeface="Arial"/>
              <a:sym typeface="Arial"/>
            </a:endParaRPr>
          </a:p>
          <a:p>
            <a:pPr marL="0" marR="0" lvl="0" indent="0" algn="r" rtl="0">
              <a:lnSpc>
                <a:spcPct val="100000"/>
              </a:lnSpc>
              <a:spcBef>
                <a:spcPts val="0"/>
              </a:spcBef>
              <a:spcAft>
                <a:spcPts val="0"/>
              </a:spcAft>
              <a:buNone/>
            </a:pPr>
            <a:endParaRPr sz="1200" b="0" strike="noStrike" dirty="0">
              <a:solidFill>
                <a:srgbClr val="000000"/>
              </a:solidFill>
              <a:latin typeface="Arial"/>
              <a:ea typeface="Arial"/>
              <a:cs typeface="Arial"/>
              <a:sym typeface="Arial"/>
            </a:endParaRPr>
          </a:p>
        </p:txBody>
      </p:sp>
      <p:pic>
        <p:nvPicPr>
          <p:cNvPr id="1028" name="Picture 4">
            <a:extLst>
              <a:ext uri="{FF2B5EF4-FFF2-40B4-BE49-F238E27FC236}">
                <a16:creationId xmlns:a16="http://schemas.microsoft.com/office/drawing/2014/main" id="{78FF0343-C1B0-AE66-D3C9-CBE497BF06B0}"/>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181501" y="2792276"/>
            <a:ext cx="1138366" cy="113836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94" name="Google Shape;94;g3e87284c66a_1_45"/>
          <p:cNvSpPr txBox="1"/>
          <p:nvPr/>
        </p:nvSpPr>
        <p:spPr>
          <a:xfrm>
            <a:off x="180000" y="180000"/>
            <a:ext cx="8783700" cy="431700"/>
          </a:xfrm>
          <a:prstGeom prst="rect">
            <a:avLst/>
          </a:prstGeom>
          <a:noFill/>
          <a:ln>
            <a:noFill/>
          </a:ln>
        </p:spPr>
        <p:txBody>
          <a:bodyPr spcFirstLastPara="1" wrap="square" lIns="0" tIns="0" rIns="0" bIns="0" anchor="t" anchorCtr="0">
            <a:normAutofit/>
          </a:bodyPr>
          <a:lstStyle/>
          <a:p>
            <a:pPr marL="228600" marR="0" lvl="0" indent="0" algn="l" rtl="0">
              <a:lnSpc>
                <a:spcPct val="85000"/>
              </a:lnSpc>
              <a:spcBef>
                <a:spcPts val="0"/>
              </a:spcBef>
              <a:spcAft>
                <a:spcPts val="0"/>
              </a:spcAft>
              <a:buClr>
                <a:schemeClr val="lt1"/>
              </a:buClr>
              <a:buSzPts val="2800"/>
              <a:buFont typeface="Arial"/>
              <a:buNone/>
            </a:pPr>
            <a:r>
              <a:rPr lang="uk-UA" sz="2800">
                <a:solidFill>
                  <a:schemeClr val="lt1"/>
                </a:solidFill>
                <a:latin typeface="Calibri"/>
                <a:ea typeface="Calibri"/>
                <a:cs typeface="Calibri"/>
                <a:sym typeface="Calibri"/>
              </a:rPr>
              <a:t>Модель системи віддаленого керування БПЛА типу fpv</a:t>
            </a:r>
            <a:endParaRPr sz="2800">
              <a:solidFill>
                <a:schemeClr val="lt1"/>
              </a:solidFill>
              <a:latin typeface="Calibri"/>
              <a:ea typeface="Calibri"/>
              <a:cs typeface="Calibri"/>
              <a:sym typeface="Calibri"/>
            </a:endParaRPr>
          </a:p>
        </p:txBody>
      </p:sp>
      <p:pic>
        <p:nvPicPr>
          <p:cNvPr id="95" name="Google Shape;95;g3e87284c66a_1_45"/>
          <p:cNvPicPr preferRelativeResize="0"/>
          <p:nvPr/>
        </p:nvPicPr>
        <p:blipFill>
          <a:blip r:embed="rId3">
            <a:alphaModFix/>
          </a:blip>
          <a:stretch>
            <a:fillRect/>
          </a:stretch>
        </p:blipFill>
        <p:spPr>
          <a:xfrm>
            <a:off x="933300" y="748850"/>
            <a:ext cx="7454150" cy="3804750"/>
          </a:xfrm>
          <a:prstGeom prst="rect">
            <a:avLst/>
          </a:prstGeom>
          <a:noFill/>
          <a:ln>
            <a:noFill/>
          </a:ln>
        </p:spPr>
      </p:pic>
      <p:sp>
        <p:nvSpPr>
          <p:cNvPr id="96" name="Google Shape;96;g3e87284c66a_1_45"/>
          <p:cNvSpPr/>
          <p:nvPr/>
        </p:nvSpPr>
        <p:spPr>
          <a:xfrm>
            <a:off x="8280000" y="4752000"/>
            <a:ext cx="719700" cy="251700"/>
          </a:xfrm>
          <a:prstGeom prst="rect">
            <a:avLst/>
          </a:prstGeom>
          <a:noFill/>
          <a:ln>
            <a:noFill/>
          </a:ln>
        </p:spPr>
        <p:txBody>
          <a:bodyPr spcFirstLastPara="1" wrap="square" lIns="0" tIns="0" rIns="0" bIns="0" anchor="t" anchorCtr="0">
            <a:noAutofit/>
          </a:bodyPr>
          <a:lstStyle/>
          <a:p>
            <a:pPr marL="0" marR="0" lvl="0" indent="0" algn="r" rtl="0">
              <a:lnSpc>
                <a:spcPct val="100000"/>
              </a:lnSpc>
              <a:spcBef>
                <a:spcPts val="0"/>
              </a:spcBef>
              <a:spcAft>
                <a:spcPts val="0"/>
              </a:spcAft>
              <a:buNone/>
            </a:pPr>
            <a:r>
              <a:rPr lang="uk-UA" sz="1200" b="0" i="0" u="none" strike="noStrike" cap="none" dirty="0">
                <a:solidFill>
                  <a:schemeClr val="lt1"/>
                </a:solidFill>
                <a:latin typeface="Exo 2"/>
                <a:ea typeface="Exo 2"/>
                <a:cs typeface="Exo 2"/>
                <a:sym typeface="Exo 2"/>
              </a:rPr>
              <a:t>Слайд </a:t>
            </a:r>
            <a:r>
              <a:rPr lang="en-US" sz="1200" b="0" i="0" u="none" strike="noStrike" cap="none" dirty="0">
                <a:solidFill>
                  <a:schemeClr val="lt1"/>
                </a:solidFill>
                <a:latin typeface="Exo 2"/>
                <a:ea typeface="Exo 2"/>
                <a:cs typeface="Exo 2"/>
                <a:sym typeface="Exo 2"/>
              </a:rPr>
              <a:t>7</a:t>
            </a:r>
            <a:r>
              <a:rPr lang="uk-UA" sz="1200" b="0" i="0" u="none" strike="noStrike" cap="none" dirty="0">
                <a:solidFill>
                  <a:schemeClr val="lt1"/>
                </a:solidFill>
                <a:latin typeface="Exo 2"/>
                <a:ea typeface="Exo 2"/>
                <a:cs typeface="Exo 2"/>
                <a:sym typeface="Exo 2"/>
              </a:rPr>
              <a:t> </a:t>
            </a:r>
            <a:endParaRPr sz="1200" b="0" i="0" u="none" strike="noStrike" cap="none" dirty="0">
              <a:solidFill>
                <a:srgbClr val="000000"/>
              </a:solidFill>
              <a:latin typeface="Arial"/>
              <a:ea typeface="Arial"/>
              <a:cs typeface="Arial"/>
              <a:sym typeface="Arial"/>
            </a:endParaRPr>
          </a:p>
          <a:p>
            <a:pPr marL="0" marR="0" lvl="0" indent="0" algn="r" rtl="0">
              <a:lnSpc>
                <a:spcPct val="100000"/>
              </a:lnSpc>
              <a:spcBef>
                <a:spcPts val="0"/>
              </a:spcBef>
              <a:spcAft>
                <a:spcPts val="0"/>
              </a:spcAft>
              <a:buNone/>
            </a:pPr>
            <a:endParaRPr sz="1200" b="0" i="0" u="none" strike="noStrike" cap="none" dirty="0">
              <a:solidFill>
                <a:srgbClr val="000000"/>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pic>
        <p:nvPicPr>
          <p:cNvPr id="102" name="Google Shape;102;g3e87284c66a_1_14"/>
          <p:cNvPicPr preferRelativeResize="0"/>
          <p:nvPr/>
        </p:nvPicPr>
        <p:blipFill>
          <a:blip r:embed="rId3">
            <a:alphaModFix/>
          </a:blip>
          <a:stretch>
            <a:fillRect/>
          </a:stretch>
        </p:blipFill>
        <p:spPr>
          <a:xfrm>
            <a:off x="1302251" y="739699"/>
            <a:ext cx="6539151" cy="3858599"/>
          </a:xfrm>
          <a:prstGeom prst="rect">
            <a:avLst/>
          </a:prstGeom>
          <a:noFill/>
          <a:ln>
            <a:noFill/>
          </a:ln>
        </p:spPr>
      </p:pic>
      <p:sp>
        <p:nvSpPr>
          <p:cNvPr id="103" name="Google Shape;103;g3e87284c66a_1_14"/>
          <p:cNvSpPr txBox="1"/>
          <p:nvPr/>
        </p:nvSpPr>
        <p:spPr>
          <a:xfrm>
            <a:off x="63500" y="86025"/>
            <a:ext cx="9361500" cy="444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uk-UA" sz="2100">
                <a:solidFill>
                  <a:schemeClr val="lt1"/>
                </a:solidFill>
                <a:latin typeface="Exo 2"/>
                <a:ea typeface="Exo 2"/>
                <a:cs typeface="Exo 2"/>
                <a:sym typeface="Exo 2"/>
              </a:rPr>
              <a:t>Фізична схема приймання\передачі телеметрії та відео</a:t>
            </a:r>
            <a:endParaRPr sz="2100">
              <a:solidFill>
                <a:schemeClr val="lt1"/>
              </a:solidFill>
              <a:latin typeface="Exo 2"/>
              <a:ea typeface="Exo 2"/>
              <a:cs typeface="Exo 2"/>
              <a:sym typeface="Exo 2"/>
            </a:endParaRPr>
          </a:p>
        </p:txBody>
      </p:sp>
      <p:sp>
        <p:nvSpPr>
          <p:cNvPr id="104" name="Google Shape;104;g3e87284c66a_1_14"/>
          <p:cNvSpPr/>
          <p:nvPr/>
        </p:nvSpPr>
        <p:spPr>
          <a:xfrm>
            <a:off x="5288850" y="904700"/>
            <a:ext cx="2865300" cy="3693600"/>
          </a:xfrm>
          <a:prstGeom prst="rect">
            <a:avLst/>
          </a:prstGeom>
          <a:noFill/>
          <a:ln w="9525" cap="flat" cmpd="sng">
            <a:solidFill>
              <a:schemeClr val="dk2"/>
            </a:solidFill>
            <a:prstDash val="dot"/>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Exo 2"/>
              <a:ea typeface="Exo 2"/>
              <a:cs typeface="Exo 2"/>
              <a:sym typeface="Exo 2"/>
            </a:endParaRPr>
          </a:p>
        </p:txBody>
      </p:sp>
      <p:sp>
        <p:nvSpPr>
          <p:cNvPr id="105" name="Google Shape;105;g3e87284c66a_1_14"/>
          <p:cNvSpPr txBox="1"/>
          <p:nvPr/>
        </p:nvSpPr>
        <p:spPr>
          <a:xfrm>
            <a:off x="5627000" y="1029300"/>
            <a:ext cx="2064600" cy="195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uk-UA" sz="900">
                <a:solidFill>
                  <a:schemeClr val="dk1"/>
                </a:solidFill>
                <a:latin typeface="Exo 2"/>
                <a:ea typeface="Exo 2"/>
                <a:cs typeface="Exo 2"/>
                <a:sym typeface="Exo 2"/>
              </a:rPr>
              <a:t>Пристрій комунікації</a:t>
            </a:r>
            <a:endParaRPr sz="900">
              <a:solidFill>
                <a:schemeClr val="dk1"/>
              </a:solidFill>
              <a:latin typeface="Exo 2"/>
              <a:ea typeface="Exo 2"/>
              <a:cs typeface="Exo 2"/>
              <a:sym typeface="Exo 2"/>
            </a:endParaRPr>
          </a:p>
        </p:txBody>
      </p:sp>
      <p:sp>
        <p:nvSpPr>
          <p:cNvPr id="106" name="Google Shape;106;g3e87284c66a_1_14"/>
          <p:cNvSpPr/>
          <p:nvPr/>
        </p:nvSpPr>
        <p:spPr>
          <a:xfrm>
            <a:off x="8280000" y="4752000"/>
            <a:ext cx="719700" cy="251700"/>
          </a:xfrm>
          <a:prstGeom prst="rect">
            <a:avLst/>
          </a:prstGeom>
          <a:noFill/>
          <a:ln>
            <a:noFill/>
          </a:ln>
        </p:spPr>
        <p:txBody>
          <a:bodyPr spcFirstLastPara="1" wrap="square" lIns="0" tIns="0" rIns="0" bIns="0" anchor="t" anchorCtr="0">
            <a:noAutofit/>
          </a:bodyPr>
          <a:lstStyle/>
          <a:p>
            <a:pPr marL="0" marR="0" lvl="0" indent="0" algn="r" rtl="0">
              <a:lnSpc>
                <a:spcPct val="100000"/>
              </a:lnSpc>
              <a:spcBef>
                <a:spcPts val="0"/>
              </a:spcBef>
              <a:spcAft>
                <a:spcPts val="0"/>
              </a:spcAft>
              <a:buNone/>
            </a:pPr>
            <a:r>
              <a:rPr lang="uk-UA" sz="1200" b="0" i="0" u="none" strike="noStrike" cap="none" dirty="0">
                <a:solidFill>
                  <a:schemeClr val="lt1"/>
                </a:solidFill>
                <a:latin typeface="Exo 2"/>
                <a:ea typeface="Exo 2"/>
                <a:cs typeface="Exo 2"/>
                <a:sym typeface="Exo 2"/>
              </a:rPr>
              <a:t>Слайд </a:t>
            </a:r>
            <a:r>
              <a:rPr lang="en-US" sz="1200" b="0" i="0" u="none" strike="noStrike" cap="none" dirty="0">
                <a:solidFill>
                  <a:schemeClr val="lt1"/>
                </a:solidFill>
                <a:latin typeface="Exo 2"/>
                <a:ea typeface="Exo 2"/>
                <a:cs typeface="Exo 2"/>
                <a:sym typeface="Exo 2"/>
              </a:rPr>
              <a:t>8</a:t>
            </a:r>
            <a:r>
              <a:rPr lang="uk-UA" sz="1200" b="0" i="0" u="none" strike="noStrike" cap="none" dirty="0">
                <a:solidFill>
                  <a:schemeClr val="lt1"/>
                </a:solidFill>
                <a:latin typeface="Exo 2"/>
                <a:ea typeface="Exo 2"/>
                <a:cs typeface="Exo 2"/>
                <a:sym typeface="Exo 2"/>
              </a:rPr>
              <a:t> </a:t>
            </a:r>
            <a:endParaRPr sz="1200" b="0" i="0" u="none" strike="noStrike" cap="none" dirty="0">
              <a:solidFill>
                <a:srgbClr val="000000"/>
              </a:solidFill>
              <a:latin typeface="Arial"/>
              <a:ea typeface="Arial"/>
              <a:cs typeface="Arial"/>
              <a:sym typeface="Arial"/>
            </a:endParaRPr>
          </a:p>
          <a:p>
            <a:pPr marL="0" marR="0" lvl="0" indent="0" algn="r" rtl="0">
              <a:lnSpc>
                <a:spcPct val="100000"/>
              </a:lnSpc>
              <a:spcBef>
                <a:spcPts val="0"/>
              </a:spcBef>
              <a:spcAft>
                <a:spcPts val="0"/>
              </a:spcAft>
              <a:buNone/>
            </a:pPr>
            <a:endParaRPr sz="1200" b="0" i="0" u="none" strike="noStrike" cap="none" dirty="0">
              <a:solidFill>
                <a:srgbClr val="000000"/>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1"/>
        <p:cNvGrpSpPr/>
        <p:nvPr/>
      </p:nvGrpSpPr>
      <p:grpSpPr>
        <a:xfrm>
          <a:off x="0" y="0"/>
          <a:ext cx="0" cy="0"/>
          <a:chOff x="0" y="0"/>
          <a:chExt cx="0" cy="0"/>
        </a:xfrm>
      </p:grpSpPr>
      <p:sp>
        <p:nvSpPr>
          <p:cNvPr id="112" name="Google Shape;112;p7"/>
          <p:cNvSpPr txBox="1"/>
          <p:nvPr/>
        </p:nvSpPr>
        <p:spPr>
          <a:xfrm>
            <a:off x="180000" y="180000"/>
            <a:ext cx="8783640" cy="431640"/>
          </a:xfrm>
          <a:prstGeom prst="rect">
            <a:avLst/>
          </a:prstGeom>
          <a:noFill/>
          <a:ln>
            <a:noFill/>
          </a:ln>
        </p:spPr>
        <p:txBody>
          <a:bodyPr spcFirstLastPara="1" wrap="square" lIns="0" tIns="0" rIns="0" bIns="0" anchor="t" anchorCtr="0">
            <a:normAutofit/>
          </a:bodyPr>
          <a:lstStyle/>
          <a:p>
            <a:pPr marL="228600" marR="0" lvl="0" indent="0" algn="l" rtl="0">
              <a:lnSpc>
                <a:spcPct val="85000"/>
              </a:lnSpc>
              <a:spcBef>
                <a:spcPts val="0"/>
              </a:spcBef>
              <a:spcAft>
                <a:spcPts val="0"/>
              </a:spcAft>
              <a:buClr>
                <a:schemeClr val="lt1"/>
              </a:buClr>
              <a:buSzPts val="2800"/>
              <a:buFont typeface="Arial"/>
              <a:buNone/>
            </a:pPr>
            <a:r>
              <a:rPr lang="uk-UA" sz="2800">
                <a:solidFill>
                  <a:schemeClr val="lt1"/>
                </a:solidFill>
                <a:latin typeface="Calibri"/>
                <a:ea typeface="Calibri"/>
                <a:cs typeface="Calibri"/>
                <a:sym typeface="Calibri"/>
              </a:rPr>
              <a:t>UML діаграма компонентів Серверної частини </a:t>
            </a:r>
            <a:endParaRPr sz="2800">
              <a:solidFill>
                <a:schemeClr val="dk1"/>
              </a:solidFill>
              <a:latin typeface="Exo 2"/>
              <a:ea typeface="Exo 2"/>
              <a:cs typeface="Exo 2"/>
              <a:sym typeface="Exo 2"/>
            </a:endParaRPr>
          </a:p>
        </p:txBody>
      </p:sp>
      <p:sp>
        <p:nvSpPr>
          <p:cNvPr id="113" name="Google Shape;113;p7"/>
          <p:cNvSpPr/>
          <p:nvPr/>
        </p:nvSpPr>
        <p:spPr>
          <a:xfrm>
            <a:off x="8280000" y="4752000"/>
            <a:ext cx="719640" cy="251640"/>
          </a:xfrm>
          <a:prstGeom prst="rect">
            <a:avLst/>
          </a:prstGeom>
          <a:noFill/>
          <a:ln>
            <a:noFill/>
          </a:ln>
        </p:spPr>
        <p:txBody>
          <a:bodyPr spcFirstLastPara="1" wrap="square" lIns="0" tIns="0" rIns="0" bIns="0" anchor="t" anchorCtr="0">
            <a:noAutofit/>
          </a:bodyPr>
          <a:lstStyle/>
          <a:p>
            <a:pPr marL="0" marR="0" lvl="0" indent="0" algn="r" rtl="0">
              <a:lnSpc>
                <a:spcPct val="100000"/>
              </a:lnSpc>
              <a:spcBef>
                <a:spcPts val="0"/>
              </a:spcBef>
              <a:spcAft>
                <a:spcPts val="0"/>
              </a:spcAft>
              <a:buNone/>
            </a:pPr>
            <a:r>
              <a:rPr lang="uk-UA" sz="1200" b="0" strike="noStrike" dirty="0">
                <a:solidFill>
                  <a:schemeClr val="lt1"/>
                </a:solidFill>
                <a:latin typeface="Exo 2"/>
                <a:ea typeface="Exo 2"/>
                <a:cs typeface="Exo 2"/>
                <a:sym typeface="Exo 2"/>
              </a:rPr>
              <a:t>Слайд </a:t>
            </a:r>
            <a:r>
              <a:rPr lang="en-US" sz="1200" b="0" strike="noStrike" dirty="0">
                <a:solidFill>
                  <a:schemeClr val="lt1"/>
                </a:solidFill>
                <a:latin typeface="Exo 2"/>
                <a:ea typeface="Exo 2"/>
                <a:cs typeface="Exo 2"/>
                <a:sym typeface="Exo 2"/>
              </a:rPr>
              <a:t>9</a:t>
            </a:r>
            <a:r>
              <a:rPr lang="uk-UA" sz="1200" b="0" strike="noStrike" dirty="0">
                <a:solidFill>
                  <a:schemeClr val="lt1"/>
                </a:solidFill>
                <a:latin typeface="Exo 2"/>
                <a:ea typeface="Exo 2"/>
                <a:cs typeface="Exo 2"/>
                <a:sym typeface="Exo 2"/>
              </a:rPr>
              <a:t> </a:t>
            </a:r>
            <a:endParaRPr sz="1200" b="0" strike="noStrike" dirty="0">
              <a:solidFill>
                <a:srgbClr val="000000"/>
              </a:solidFill>
              <a:latin typeface="Arial"/>
              <a:ea typeface="Arial"/>
              <a:cs typeface="Arial"/>
              <a:sym typeface="Arial"/>
            </a:endParaRPr>
          </a:p>
          <a:p>
            <a:pPr marL="0" marR="0" lvl="0" indent="0" algn="r" rtl="0">
              <a:lnSpc>
                <a:spcPct val="100000"/>
              </a:lnSpc>
              <a:spcBef>
                <a:spcPts val="0"/>
              </a:spcBef>
              <a:spcAft>
                <a:spcPts val="0"/>
              </a:spcAft>
              <a:buNone/>
            </a:pPr>
            <a:endParaRPr sz="1200" b="0" strike="noStrike" dirty="0">
              <a:solidFill>
                <a:srgbClr val="000000"/>
              </a:solidFill>
              <a:latin typeface="Arial"/>
              <a:ea typeface="Arial"/>
              <a:cs typeface="Arial"/>
              <a:sym typeface="Arial"/>
            </a:endParaRPr>
          </a:p>
        </p:txBody>
      </p:sp>
      <p:pic>
        <p:nvPicPr>
          <p:cNvPr id="114" name="Google Shape;114;p7"/>
          <p:cNvPicPr preferRelativeResize="0"/>
          <p:nvPr/>
        </p:nvPicPr>
        <p:blipFill>
          <a:blip r:embed="rId3">
            <a:alphaModFix/>
          </a:blip>
          <a:stretch>
            <a:fillRect/>
          </a:stretch>
        </p:blipFill>
        <p:spPr>
          <a:xfrm>
            <a:off x="280800" y="723900"/>
            <a:ext cx="8582025" cy="36957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8"/>
          <p:cNvSpPr txBox="1"/>
          <p:nvPr/>
        </p:nvSpPr>
        <p:spPr>
          <a:xfrm>
            <a:off x="180000" y="180000"/>
            <a:ext cx="8783640" cy="431640"/>
          </a:xfrm>
          <a:prstGeom prst="rect">
            <a:avLst/>
          </a:prstGeom>
          <a:noFill/>
          <a:ln>
            <a:noFill/>
          </a:ln>
        </p:spPr>
        <p:txBody>
          <a:bodyPr spcFirstLastPara="1" wrap="square" lIns="0" tIns="0" rIns="0" bIns="0" anchor="t" anchorCtr="0">
            <a:normAutofit/>
          </a:bodyPr>
          <a:lstStyle/>
          <a:p>
            <a:pPr marL="0" lvl="0" indent="0" algn="just" rtl="0">
              <a:spcBef>
                <a:spcPts val="0"/>
              </a:spcBef>
              <a:spcAft>
                <a:spcPts val="0"/>
              </a:spcAft>
              <a:buNone/>
            </a:pPr>
            <a:r>
              <a:rPr lang="uk-UA" sz="2477">
                <a:solidFill>
                  <a:schemeClr val="lt1"/>
                </a:solidFill>
                <a:latin typeface="Calibri"/>
                <a:ea typeface="Calibri"/>
                <a:cs typeface="Calibri"/>
                <a:sym typeface="Calibri"/>
              </a:rPr>
              <a:t>Алгоритм роботи клієнтської частини </a:t>
            </a:r>
            <a:endParaRPr sz="2477">
              <a:solidFill>
                <a:schemeClr val="lt1"/>
              </a:solidFill>
              <a:latin typeface="Calibri"/>
              <a:ea typeface="Calibri"/>
              <a:cs typeface="Calibri"/>
              <a:sym typeface="Calibri"/>
            </a:endParaRPr>
          </a:p>
          <a:p>
            <a:pPr marL="0" lvl="0" indent="0" algn="just" rtl="0">
              <a:spcBef>
                <a:spcPts val="0"/>
              </a:spcBef>
              <a:spcAft>
                <a:spcPts val="0"/>
              </a:spcAft>
              <a:buNone/>
            </a:pPr>
            <a:endParaRPr sz="1800">
              <a:solidFill>
                <a:schemeClr val="lt1"/>
              </a:solidFill>
              <a:latin typeface="Calibri"/>
              <a:ea typeface="Calibri"/>
              <a:cs typeface="Calibri"/>
              <a:sym typeface="Calibri"/>
            </a:endParaRPr>
          </a:p>
        </p:txBody>
      </p:sp>
      <p:sp>
        <p:nvSpPr>
          <p:cNvPr id="121" name="Google Shape;121;p8"/>
          <p:cNvSpPr/>
          <p:nvPr/>
        </p:nvSpPr>
        <p:spPr>
          <a:xfrm>
            <a:off x="8280000" y="4752000"/>
            <a:ext cx="719640" cy="251640"/>
          </a:xfrm>
          <a:prstGeom prst="rect">
            <a:avLst/>
          </a:prstGeom>
          <a:noFill/>
          <a:ln>
            <a:noFill/>
          </a:ln>
        </p:spPr>
        <p:txBody>
          <a:bodyPr spcFirstLastPara="1" wrap="square" lIns="0" tIns="0" rIns="0" bIns="0" anchor="t" anchorCtr="0">
            <a:noAutofit/>
          </a:bodyPr>
          <a:lstStyle/>
          <a:p>
            <a:pPr marL="0" marR="0" lvl="0" indent="0" algn="r" rtl="0">
              <a:lnSpc>
                <a:spcPct val="100000"/>
              </a:lnSpc>
              <a:spcBef>
                <a:spcPts val="0"/>
              </a:spcBef>
              <a:spcAft>
                <a:spcPts val="0"/>
              </a:spcAft>
              <a:buNone/>
            </a:pPr>
            <a:r>
              <a:rPr lang="uk-UA" sz="1200" b="0" strike="noStrike" dirty="0">
                <a:solidFill>
                  <a:schemeClr val="lt1"/>
                </a:solidFill>
                <a:latin typeface="Exo 2"/>
                <a:ea typeface="Exo 2"/>
                <a:cs typeface="Exo 2"/>
                <a:sym typeface="Exo 2"/>
              </a:rPr>
              <a:t>Слайд </a:t>
            </a:r>
            <a:r>
              <a:rPr lang="en-US" sz="1200" b="0" strike="noStrike" dirty="0">
                <a:solidFill>
                  <a:schemeClr val="lt1"/>
                </a:solidFill>
                <a:latin typeface="Exo 2"/>
                <a:ea typeface="Exo 2"/>
                <a:cs typeface="Exo 2"/>
                <a:sym typeface="Exo 2"/>
              </a:rPr>
              <a:t>10</a:t>
            </a:r>
            <a:r>
              <a:rPr lang="uk-UA" sz="1200" b="0" strike="noStrike" dirty="0">
                <a:solidFill>
                  <a:schemeClr val="lt1"/>
                </a:solidFill>
                <a:latin typeface="Exo 2"/>
                <a:ea typeface="Exo 2"/>
                <a:cs typeface="Exo 2"/>
                <a:sym typeface="Exo 2"/>
              </a:rPr>
              <a:t> </a:t>
            </a:r>
            <a:endParaRPr sz="1200" b="0" strike="noStrike" dirty="0">
              <a:solidFill>
                <a:srgbClr val="000000"/>
              </a:solidFill>
              <a:latin typeface="Arial"/>
              <a:ea typeface="Arial"/>
              <a:cs typeface="Arial"/>
              <a:sym typeface="Arial"/>
            </a:endParaRPr>
          </a:p>
          <a:p>
            <a:pPr marL="0" marR="0" lvl="0" indent="0" algn="r" rtl="0">
              <a:lnSpc>
                <a:spcPct val="100000"/>
              </a:lnSpc>
              <a:spcBef>
                <a:spcPts val="0"/>
              </a:spcBef>
              <a:spcAft>
                <a:spcPts val="0"/>
              </a:spcAft>
              <a:buNone/>
            </a:pPr>
            <a:endParaRPr sz="1200" b="0" strike="noStrike" dirty="0">
              <a:solidFill>
                <a:srgbClr val="000000"/>
              </a:solidFill>
              <a:latin typeface="Arial"/>
              <a:ea typeface="Arial"/>
              <a:cs typeface="Arial"/>
              <a:sym typeface="Arial"/>
            </a:endParaRPr>
          </a:p>
        </p:txBody>
      </p:sp>
      <p:pic>
        <p:nvPicPr>
          <p:cNvPr id="122" name="Google Shape;122;p8"/>
          <p:cNvPicPr preferRelativeResize="0"/>
          <p:nvPr/>
        </p:nvPicPr>
        <p:blipFill rotWithShape="1">
          <a:blip r:embed="rId3">
            <a:alphaModFix/>
          </a:blip>
          <a:srcRect t="7536"/>
          <a:stretch/>
        </p:blipFill>
        <p:spPr>
          <a:xfrm>
            <a:off x="721425" y="729475"/>
            <a:ext cx="7431200" cy="38670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pic>
        <p:nvPicPr>
          <p:cNvPr id="128" name="Google Shape;128;p9"/>
          <p:cNvPicPr preferRelativeResize="0"/>
          <p:nvPr/>
        </p:nvPicPr>
        <p:blipFill rotWithShape="1">
          <a:blip r:embed="rId3">
            <a:alphaModFix/>
          </a:blip>
          <a:srcRect/>
          <a:stretch/>
        </p:blipFill>
        <p:spPr>
          <a:xfrm>
            <a:off x="0" y="1487048"/>
            <a:ext cx="9144000" cy="2169403"/>
          </a:xfrm>
          <a:prstGeom prst="rect">
            <a:avLst/>
          </a:prstGeom>
          <a:noFill/>
          <a:ln>
            <a:noFill/>
          </a:ln>
        </p:spPr>
      </p:pic>
      <p:sp>
        <p:nvSpPr>
          <p:cNvPr id="129" name="Google Shape;129;p9"/>
          <p:cNvSpPr txBox="1"/>
          <p:nvPr/>
        </p:nvSpPr>
        <p:spPr>
          <a:xfrm>
            <a:off x="180000" y="180000"/>
            <a:ext cx="8783640" cy="431640"/>
          </a:xfrm>
          <a:prstGeom prst="rect">
            <a:avLst/>
          </a:prstGeom>
          <a:noFill/>
          <a:ln>
            <a:noFill/>
          </a:ln>
        </p:spPr>
        <p:txBody>
          <a:bodyPr spcFirstLastPara="1" wrap="square" lIns="0" tIns="0" rIns="0" bIns="0" anchor="t" anchorCtr="0">
            <a:normAutofit/>
          </a:bodyPr>
          <a:lstStyle/>
          <a:p>
            <a:pPr marL="228600" marR="0" lvl="0" indent="0" algn="l" rtl="0">
              <a:lnSpc>
                <a:spcPct val="85000"/>
              </a:lnSpc>
              <a:spcBef>
                <a:spcPts val="0"/>
              </a:spcBef>
              <a:spcAft>
                <a:spcPts val="0"/>
              </a:spcAft>
              <a:buClr>
                <a:schemeClr val="lt1"/>
              </a:buClr>
              <a:buSzPct val="100000"/>
              <a:buFont typeface="Arial"/>
              <a:buNone/>
            </a:pPr>
            <a:r>
              <a:rPr lang="uk-UA" sz="2800">
                <a:solidFill>
                  <a:schemeClr val="lt1"/>
                </a:solidFill>
                <a:latin typeface="Calibri"/>
                <a:ea typeface="Calibri"/>
                <a:cs typeface="Calibri"/>
                <a:sym typeface="Calibri"/>
              </a:rPr>
              <a:t> DFD діаграма потоків даних клієнтської частини</a:t>
            </a:r>
            <a:endParaRPr sz="2800">
              <a:solidFill>
                <a:schemeClr val="lt1"/>
              </a:solidFill>
              <a:latin typeface="Calibri"/>
              <a:ea typeface="Calibri"/>
              <a:cs typeface="Calibri"/>
              <a:sym typeface="Calibri"/>
            </a:endParaRPr>
          </a:p>
          <a:p>
            <a:pPr marL="228600" marR="0" lvl="0" indent="0" algn="l" rtl="0">
              <a:lnSpc>
                <a:spcPct val="85000"/>
              </a:lnSpc>
              <a:spcBef>
                <a:spcPts val="0"/>
              </a:spcBef>
              <a:spcAft>
                <a:spcPts val="0"/>
              </a:spcAft>
              <a:buClr>
                <a:schemeClr val="lt1"/>
              </a:buClr>
              <a:buSzPct val="100000"/>
              <a:buFont typeface="Arial"/>
              <a:buNone/>
            </a:pPr>
            <a:endParaRPr sz="2800">
              <a:solidFill>
                <a:schemeClr val="lt1"/>
              </a:solidFill>
              <a:latin typeface="Calibri"/>
              <a:ea typeface="Calibri"/>
              <a:cs typeface="Calibri"/>
              <a:sym typeface="Calibri"/>
            </a:endParaRPr>
          </a:p>
        </p:txBody>
      </p:sp>
      <p:sp>
        <p:nvSpPr>
          <p:cNvPr id="130" name="Google Shape;130;p9"/>
          <p:cNvSpPr/>
          <p:nvPr/>
        </p:nvSpPr>
        <p:spPr>
          <a:xfrm>
            <a:off x="8280000" y="4752000"/>
            <a:ext cx="719640" cy="251640"/>
          </a:xfrm>
          <a:prstGeom prst="rect">
            <a:avLst/>
          </a:prstGeom>
          <a:noFill/>
          <a:ln>
            <a:noFill/>
          </a:ln>
        </p:spPr>
        <p:txBody>
          <a:bodyPr spcFirstLastPara="1" wrap="square" lIns="0" tIns="0" rIns="0" bIns="0" anchor="t" anchorCtr="0">
            <a:noAutofit/>
          </a:bodyPr>
          <a:lstStyle/>
          <a:p>
            <a:pPr marL="0" marR="0" lvl="0" indent="0" algn="r" rtl="0">
              <a:lnSpc>
                <a:spcPct val="100000"/>
              </a:lnSpc>
              <a:spcBef>
                <a:spcPts val="0"/>
              </a:spcBef>
              <a:spcAft>
                <a:spcPts val="0"/>
              </a:spcAft>
              <a:buNone/>
            </a:pPr>
            <a:r>
              <a:rPr lang="uk-UA" sz="1200" b="0" strike="noStrike" dirty="0">
                <a:solidFill>
                  <a:schemeClr val="lt1"/>
                </a:solidFill>
                <a:latin typeface="Exo 2"/>
                <a:ea typeface="Exo 2"/>
                <a:cs typeface="Exo 2"/>
                <a:sym typeface="Exo 2"/>
              </a:rPr>
              <a:t>Слайд </a:t>
            </a:r>
            <a:r>
              <a:rPr lang="uk-UA" sz="1200" dirty="0">
                <a:solidFill>
                  <a:schemeClr val="lt1"/>
                </a:solidFill>
                <a:latin typeface="Exo 2"/>
                <a:ea typeface="Exo 2"/>
                <a:cs typeface="Exo 2"/>
                <a:sym typeface="Exo 2"/>
              </a:rPr>
              <a:t>1</a:t>
            </a:r>
            <a:r>
              <a:rPr lang="en-US" sz="1200" dirty="0">
                <a:solidFill>
                  <a:schemeClr val="lt1"/>
                </a:solidFill>
                <a:latin typeface="Exo 2"/>
                <a:ea typeface="Exo 2"/>
                <a:cs typeface="Exo 2"/>
                <a:sym typeface="Exo 2"/>
              </a:rPr>
              <a:t>1</a:t>
            </a:r>
            <a:r>
              <a:rPr lang="uk-UA" sz="1200" b="0" strike="noStrike" dirty="0">
                <a:solidFill>
                  <a:schemeClr val="lt1"/>
                </a:solidFill>
                <a:latin typeface="Exo 2"/>
                <a:ea typeface="Exo 2"/>
                <a:cs typeface="Exo 2"/>
                <a:sym typeface="Exo 2"/>
              </a:rPr>
              <a:t> </a:t>
            </a:r>
            <a:endParaRPr sz="1200" b="0" strike="noStrike" dirty="0">
              <a:solidFill>
                <a:srgbClr val="000000"/>
              </a:solidFill>
              <a:latin typeface="Arial"/>
              <a:ea typeface="Arial"/>
              <a:cs typeface="Arial"/>
              <a:sym typeface="Arial"/>
            </a:endParaRPr>
          </a:p>
          <a:p>
            <a:pPr marL="0" marR="0" lvl="0" indent="0" algn="r" rtl="0">
              <a:lnSpc>
                <a:spcPct val="100000"/>
              </a:lnSpc>
              <a:spcBef>
                <a:spcPts val="0"/>
              </a:spcBef>
              <a:spcAft>
                <a:spcPts val="0"/>
              </a:spcAft>
              <a:buNone/>
            </a:pPr>
            <a:endParaRPr sz="1200" b="0" strike="noStrike" dirty="0">
              <a:solidFill>
                <a:srgbClr val="000000"/>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12"/>
          <p:cNvSpPr txBox="1"/>
          <p:nvPr/>
        </p:nvSpPr>
        <p:spPr>
          <a:xfrm>
            <a:off x="126660" y="180000"/>
            <a:ext cx="8783640" cy="431640"/>
          </a:xfrm>
          <a:prstGeom prst="rect">
            <a:avLst/>
          </a:prstGeom>
          <a:noFill/>
          <a:ln>
            <a:noFill/>
          </a:ln>
        </p:spPr>
        <p:txBody>
          <a:bodyPr spcFirstLastPara="1" wrap="square" lIns="0" tIns="0" rIns="0" bIns="0" anchor="t" anchorCtr="0">
            <a:normAutofit/>
          </a:bodyPr>
          <a:lstStyle/>
          <a:p>
            <a:pPr marL="228600" marR="0" lvl="0" indent="0" algn="l" rtl="0">
              <a:lnSpc>
                <a:spcPct val="85000"/>
              </a:lnSpc>
              <a:spcBef>
                <a:spcPts val="0"/>
              </a:spcBef>
              <a:spcAft>
                <a:spcPts val="0"/>
              </a:spcAft>
              <a:buClr>
                <a:schemeClr val="lt1"/>
              </a:buClr>
              <a:buSzPts val="2800"/>
              <a:buFont typeface="Arial"/>
              <a:buNone/>
            </a:pPr>
            <a:r>
              <a:rPr lang="uk-UA" sz="2800">
                <a:solidFill>
                  <a:schemeClr val="lt1"/>
                </a:solidFill>
                <a:latin typeface="Exo 2"/>
                <a:ea typeface="Exo 2"/>
                <a:cs typeface="Exo 2"/>
                <a:sym typeface="Exo 2"/>
              </a:rPr>
              <a:t>Життєвий цикл відео кадру </a:t>
            </a:r>
            <a:endParaRPr/>
          </a:p>
        </p:txBody>
      </p:sp>
      <p:pic>
        <p:nvPicPr>
          <p:cNvPr id="137" name="Google Shape;137;p12"/>
          <p:cNvPicPr preferRelativeResize="0"/>
          <p:nvPr/>
        </p:nvPicPr>
        <p:blipFill rotWithShape="1">
          <a:blip r:embed="rId3">
            <a:alphaModFix/>
          </a:blip>
          <a:srcRect l="2665" t="12409" r="4748" b="16134"/>
          <a:stretch/>
        </p:blipFill>
        <p:spPr>
          <a:xfrm>
            <a:off x="369116" y="903502"/>
            <a:ext cx="3095537" cy="1592747"/>
          </a:xfrm>
          <a:prstGeom prst="rect">
            <a:avLst/>
          </a:prstGeom>
          <a:noFill/>
          <a:ln>
            <a:noFill/>
          </a:ln>
        </p:spPr>
      </p:pic>
      <p:pic>
        <p:nvPicPr>
          <p:cNvPr id="138" name="Google Shape;138;p12"/>
          <p:cNvPicPr preferRelativeResize="0"/>
          <p:nvPr/>
        </p:nvPicPr>
        <p:blipFill rotWithShape="1">
          <a:blip r:embed="rId4">
            <a:alphaModFix/>
          </a:blip>
          <a:srcRect l="5963" t="13211" r="5746" b="16167"/>
          <a:stretch/>
        </p:blipFill>
        <p:spPr>
          <a:xfrm>
            <a:off x="5923820" y="903705"/>
            <a:ext cx="2986480" cy="1592544"/>
          </a:xfrm>
          <a:prstGeom prst="rect">
            <a:avLst/>
          </a:prstGeom>
          <a:noFill/>
          <a:ln>
            <a:noFill/>
          </a:ln>
        </p:spPr>
      </p:pic>
      <p:sp>
        <p:nvSpPr>
          <p:cNvPr id="139" name="Google Shape;139;p12"/>
          <p:cNvSpPr/>
          <p:nvPr/>
        </p:nvSpPr>
        <p:spPr>
          <a:xfrm>
            <a:off x="916041" y="2894202"/>
            <a:ext cx="1533545" cy="616869"/>
          </a:xfrm>
          <a:prstGeom prst="roundRect">
            <a:avLst>
              <a:gd name="adj" fmla="val 16667"/>
            </a:avLst>
          </a:prstGeom>
          <a:solidFill>
            <a:srgbClr val="2F5496"/>
          </a:solidFill>
          <a:ln w="12700" cap="flat" cmpd="sng">
            <a:solidFill>
              <a:schemeClr val="dk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uk-UA" sz="1600">
                <a:solidFill>
                  <a:schemeClr val="lt1"/>
                </a:solidFill>
                <a:latin typeface="Calibri"/>
                <a:ea typeface="Calibri"/>
                <a:cs typeface="Calibri"/>
                <a:sym typeface="Calibri"/>
              </a:rPr>
              <a:t>Захоплення та препроцесинг</a:t>
            </a:r>
            <a:endParaRPr sz="1600">
              <a:solidFill>
                <a:schemeClr val="lt1"/>
              </a:solidFill>
              <a:latin typeface="Calibri"/>
              <a:ea typeface="Calibri"/>
              <a:cs typeface="Calibri"/>
              <a:sym typeface="Calibri"/>
            </a:endParaRPr>
          </a:p>
        </p:txBody>
      </p:sp>
      <p:sp>
        <p:nvSpPr>
          <p:cNvPr id="140" name="Google Shape;140;p12"/>
          <p:cNvSpPr/>
          <p:nvPr/>
        </p:nvSpPr>
        <p:spPr>
          <a:xfrm>
            <a:off x="2851484" y="2894202"/>
            <a:ext cx="1533545" cy="616869"/>
          </a:xfrm>
          <a:prstGeom prst="roundRect">
            <a:avLst>
              <a:gd name="adj" fmla="val 16667"/>
            </a:avLst>
          </a:prstGeom>
          <a:solidFill>
            <a:srgbClr val="2F5496"/>
          </a:solidFill>
          <a:ln w="12700" cap="flat" cmpd="sng">
            <a:solidFill>
              <a:schemeClr val="dk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uk-UA" sz="1600">
                <a:solidFill>
                  <a:schemeClr val="lt1"/>
                </a:solidFill>
                <a:latin typeface="Calibri"/>
                <a:ea typeface="Calibri"/>
                <a:cs typeface="Calibri"/>
                <a:sym typeface="Calibri"/>
              </a:rPr>
              <a:t>Стиснення та фрагментація</a:t>
            </a:r>
            <a:endParaRPr/>
          </a:p>
        </p:txBody>
      </p:sp>
      <p:sp>
        <p:nvSpPr>
          <p:cNvPr id="141" name="Google Shape;141;p12"/>
          <p:cNvSpPr/>
          <p:nvPr/>
        </p:nvSpPr>
        <p:spPr>
          <a:xfrm>
            <a:off x="4789342" y="2894202"/>
            <a:ext cx="1533547" cy="616869"/>
          </a:xfrm>
          <a:prstGeom prst="roundRect">
            <a:avLst>
              <a:gd name="adj" fmla="val 16667"/>
            </a:avLst>
          </a:prstGeom>
          <a:solidFill>
            <a:srgbClr val="2F5496"/>
          </a:solidFill>
          <a:ln w="12700" cap="flat" cmpd="sng">
            <a:solidFill>
              <a:schemeClr val="dk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uk-UA" sz="1600">
                <a:solidFill>
                  <a:schemeClr val="lt1"/>
                </a:solidFill>
                <a:latin typeface="Exo 2"/>
                <a:ea typeface="Exo 2"/>
                <a:cs typeface="Exo 2"/>
                <a:sym typeface="Exo 2"/>
              </a:rPr>
              <a:t>Відправка на сервер</a:t>
            </a:r>
            <a:endParaRPr/>
          </a:p>
        </p:txBody>
      </p:sp>
      <p:sp>
        <p:nvSpPr>
          <p:cNvPr id="142" name="Google Shape;142;p12"/>
          <p:cNvSpPr/>
          <p:nvPr/>
        </p:nvSpPr>
        <p:spPr>
          <a:xfrm>
            <a:off x="6722372" y="2894202"/>
            <a:ext cx="1533545" cy="616869"/>
          </a:xfrm>
          <a:prstGeom prst="roundRect">
            <a:avLst>
              <a:gd name="adj" fmla="val 16667"/>
            </a:avLst>
          </a:prstGeom>
          <a:solidFill>
            <a:srgbClr val="2F5496"/>
          </a:solidFill>
          <a:ln w="12700" cap="flat" cmpd="sng">
            <a:solidFill>
              <a:schemeClr val="dk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uk-UA" sz="1600">
                <a:solidFill>
                  <a:schemeClr val="lt1"/>
                </a:solidFill>
                <a:latin typeface="Exo 2"/>
                <a:ea typeface="Exo 2"/>
                <a:cs typeface="Exo 2"/>
                <a:sym typeface="Exo 2"/>
              </a:rPr>
              <a:t>Ретрансляція</a:t>
            </a:r>
            <a:endParaRPr/>
          </a:p>
        </p:txBody>
      </p:sp>
      <p:sp>
        <p:nvSpPr>
          <p:cNvPr id="143" name="Google Shape;143;p12"/>
          <p:cNvSpPr/>
          <p:nvPr/>
        </p:nvSpPr>
        <p:spPr>
          <a:xfrm>
            <a:off x="2449575" y="3733925"/>
            <a:ext cx="1999200" cy="616800"/>
          </a:xfrm>
          <a:prstGeom prst="roundRect">
            <a:avLst>
              <a:gd name="adj" fmla="val 16667"/>
            </a:avLst>
          </a:prstGeom>
          <a:solidFill>
            <a:srgbClr val="2F5496"/>
          </a:solidFill>
          <a:ln w="12700" cap="flat" cmpd="sng">
            <a:solidFill>
              <a:schemeClr val="dk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uk-UA" sz="1600">
                <a:solidFill>
                  <a:schemeClr val="lt1"/>
                </a:solidFill>
                <a:latin typeface="Exo 2"/>
                <a:ea typeface="Exo 2"/>
                <a:cs typeface="Exo 2"/>
                <a:sym typeface="Exo 2"/>
              </a:rPr>
              <a:t>Асемблювання та підтвердження</a:t>
            </a:r>
            <a:endParaRPr/>
          </a:p>
        </p:txBody>
      </p:sp>
      <p:sp>
        <p:nvSpPr>
          <p:cNvPr id="144" name="Google Shape;144;p12"/>
          <p:cNvSpPr/>
          <p:nvPr/>
        </p:nvSpPr>
        <p:spPr>
          <a:xfrm>
            <a:off x="4786928" y="3743162"/>
            <a:ext cx="1697762" cy="616869"/>
          </a:xfrm>
          <a:prstGeom prst="roundRect">
            <a:avLst>
              <a:gd name="adj" fmla="val 16667"/>
            </a:avLst>
          </a:prstGeom>
          <a:solidFill>
            <a:srgbClr val="2F5496"/>
          </a:solidFill>
          <a:ln w="12700" cap="flat" cmpd="sng">
            <a:solidFill>
              <a:schemeClr val="dk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uk-UA" sz="1600">
                <a:solidFill>
                  <a:schemeClr val="lt1"/>
                </a:solidFill>
                <a:latin typeface="Exo 2"/>
                <a:ea typeface="Exo 2"/>
                <a:cs typeface="Exo 2"/>
                <a:sym typeface="Exo 2"/>
              </a:rPr>
              <a:t>Декодування та рендеринг</a:t>
            </a:r>
            <a:endParaRPr sz="1600">
              <a:solidFill>
                <a:schemeClr val="lt1"/>
              </a:solidFill>
              <a:latin typeface="Exo 2"/>
              <a:ea typeface="Exo 2"/>
              <a:cs typeface="Exo 2"/>
              <a:sym typeface="Exo 2"/>
            </a:endParaRPr>
          </a:p>
        </p:txBody>
      </p:sp>
      <p:cxnSp>
        <p:nvCxnSpPr>
          <p:cNvPr id="145" name="Google Shape;145;p12"/>
          <p:cNvCxnSpPr>
            <a:stCxn id="139" idx="3"/>
            <a:endCxn id="140" idx="1"/>
          </p:cNvCxnSpPr>
          <p:nvPr/>
        </p:nvCxnSpPr>
        <p:spPr>
          <a:xfrm>
            <a:off x="2449586" y="3202637"/>
            <a:ext cx="402000" cy="0"/>
          </a:xfrm>
          <a:prstGeom prst="straightConnector1">
            <a:avLst/>
          </a:prstGeom>
          <a:noFill/>
          <a:ln w="9525" cap="flat" cmpd="sng">
            <a:solidFill>
              <a:schemeClr val="dk1"/>
            </a:solidFill>
            <a:prstDash val="solid"/>
            <a:miter lim="8000"/>
            <a:headEnd type="none" w="sm" len="sm"/>
            <a:tailEnd type="triangle" w="med" len="med"/>
          </a:ln>
        </p:spPr>
      </p:cxnSp>
      <p:cxnSp>
        <p:nvCxnSpPr>
          <p:cNvPr id="146" name="Google Shape;146;p12"/>
          <p:cNvCxnSpPr>
            <a:stCxn id="140" idx="3"/>
          </p:cNvCxnSpPr>
          <p:nvPr/>
        </p:nvCxnSpPr>
        <p:spPr>
          <a:xfrm>
            <a:off x="4385029" y="3202637"/>
            <a:ext cx="914400" cy="914400"/>
          </a:xfrm>
          <a:prstGeom prst="straightConnector1">
            <a:avLst/>
          </a:prstGeom>
          <a:noFill/>
          <a:ln>
            <a:noFill/>
          </a:ln>
        </p:spPr>
      </p:cxnSp>
      <p:cxnSp>
        <p:nvCxnSpPr>
          <p:cNvPr id="147" name="Google Shape;147;p12"/>
          <p:cNvCxnSpPr>
            <a:stCxn id="140" idx="3"/>
          </p:cNvCxnSpPr>
          <p:nvPr/>
        </p:nvCxnSpPr>
        <p:spPr>
          <a:xfrm>
            <a:off x="4385029" y="3202637"/>
            <a:ext cx="914400" cy="914400"/>
          </a:xfrm>
          <a:prstGeom prst="straightConnector1">
            <a:avLst/>
          </a:prstGeom>
          <a:noFill/>
          <a:ln>
            <a:noFill/>
          </a:ln>
        </p:spPr>
      </p:cxnSp>
      <p:cxnSp>
        <p:nvCxnSpPr>
          <p:cNvPr id="148" name="Google Shape;148;p12"/>
          <p:cNvCxnSpPr/>
          <p:nvPr/>
        </p:nvCxnSpPr>
        <p:spPr>
          <a:xfrm>
            <a:off x="4385029" y="3202636"/>
            <a:ext cx="401898" cy="0"/>
          </a:xfrm>
          <a:prstGeom prst="straightConnector1">
            <a:avLst/>
          </a:prstGeom>
          <a:noFill/>
          <a:ln w="9525" cap="flat" cmpd="sng">
            <a:solidFill>
              <a:schemeClr val="dk1"/>
            </a:solidFill>
            <a:prstDash val="solid"/>
            <a:miter lim="8000"/>
            <a:headEnd type="none" w="sm" len="sm"/>
            <a:tailEnd type="triangle" w="med" len="med"/>
          </a:ln>
        </p:spPr>
      </p:cxnSp>
      <p:cxnSp>
        <p:nvCxnSpPr>
          <p:cNvPr id="149" name="Google Shape;149;p12"/>
          <p:cNvCxnSpPr/>
          <p:nvPr/>
        </p:nvCxnSpPr>
        <p:spPr>
          <a:xfrm>
            <a:off x="6322889" y="3202636"/>
            <a:ext cx="401898" cy="0"/>
          </a:xfrm>
          <a:prstGeom prst="straightConnector1">
            <a:avLst/>
          </a:prstGeom>
          <a:noFill/>
          <a:ln w="9525" cap="flat" cmpd="sng">
            <a:solidFill>
              <a:schemeClr val="dk1"/>
            </a:solidFill>
            <a:prstDash val="solid"/>
            <a:miter lim="8000"/>
            <a:headEnd type="none" w="sm" len="sm"/>
            <a:tailEnd type="triangle" w="med" len="med"/>
          </a:ln>
        </p:spPr>
      </p:cxnSp>
      <p:cxnSp>
        <p:nvCxnSpPr>
          <p:cNvPr id="150" name="Google Shape;150;p12"/>
          <p:cNvCxnSpPr/>
          <p:nvPr/>
        </p:nvCxnSpPr>
        <p:spPr>
          <a:xfrm>
            <a:off x="8255917" y="3210466"/>
            <a:ext cx="309243" cy="0"/>
          </a:xfrm>
          <a:prstGeom prst="straightConnector1">
            <a:avLst/>
          </a:prstGeom>
          <a:noFill/>
          <a:ln w="9525" cap="flat" cmpd="sng">
            <a:solidFill>
              <a:schemeClr val="dk1"/>
            </a:solidFill>
            <a:prstDash val="solid"/>
            <a:miter lim="8000"/>
            <a:headEnd type="none" w="sm" len="sm"/>
            <a:tailEnd type="triangle" w="med" len="med"/>
          </a:ln>
        </p:spPr>
      </p:cxnSp>
      <p:cxnSp>
        <p:nvCxnSpPr>
          <p:cNvPr id="151" name="Google Shape;151;p12"/>
          <p:cNvCxnSpPr/>
          <p:nvPr/>
        </p:nvCxnSpPr>
        <p:spPr>
          <a:xfrm>
            <a:off x="2047675" y="4033421"/>
            <a:ext cx="402000" cy="0"/>
          </a:xfrm>
          <a:prstGeom prst="straightConnector1">
            <a:avLst/>
          </a:prstGeom>
          <a:noFill/>
          <a:ln w="9525" cap="flat" cmpd="sng">
            <a:solidFill>
              <a:schemeClr val="dk1"/>
            </a:solidFill>
            <a:prstDash val="solid"/>
            <a:miter lim="8000"/>
            <a:headEnd type="none" w="sm" len="sm"/>
            <a:tailEnd type="triangle" w="med" len="med"/>
          </a:ln>
        </p:spPr>
      </p:cxnSp>
      <p:cxnSp>
        <p:nvCxnSpPr>
          <p:cNvPr id="152" name="Google Shape;152;p12"/>
          <p:cNvCxnSpPr>
            <a:stCxn id="143" idx="3"/>
          </p:cNvCxnSpPr>
          <p:nvPr/>
        </p:nvCxnSpPr>
        <p:spPr>
          <a:xfrm rot="10800000" flipH="1">
            <a:off x="4448775" y="4033325"/>
            <a:ext cx="324300" cy="9000"/>
          </a:xfrm>
          <a:prstGeom prst="straightConnector1">
            <a:avLst/>
          </a:prstGeom>
          <a:noFill/>
          <a:ln w="9525" cap="flat" cmpd="sng">
            <a:solidFill>
              <a:schemeClr val="dk1"/>
            </a:solidFill>
            <a:prstDash val="solid"/>
            <a:miter lim="8000"/>
            <a:headEnd type="none" w="sm" len="sm"/>
            <a:tailEnd type="triangle" w="med" len="med"/>
          </a:ln>
        </p:spPr>
      </p:cxnSp>
      <p:sp>
        <p:nvSpPr>
          <p:cNvPr id="153" name="Google Shape;153;p12"/>
          <p:cNvSpPr/>
          <p:nvPr/>
        </p:nvSpPr>
        <p:spPr>
          <a:xfrm>
            <a:off x="8280000" y="4752000"/>
            <a:ext cx="719640" cy="251640"/>
          </a:xfrm>
          <a:prstGeom prst="rect">
            <a:avLst/>
          </a:prstGeom>
          <a:noFill/>
          <a:ln>
            <a:noFill/>
          </a:ln>
        </p:spPr>
        <p:txBody>
          <a:bodyPr spcFirstLastPara="1" wrap="square" lIns="0" tIns="0" rIns="0" bIns="0" anchor="t" anchorCtr="0">
            <a:noAutofit/>
          </a:bodyPr>
          <a:lstStyle/>
          <a:p>
            <a:pPr marL="0" marR="0" lvl="0" indent="0" algn="r" rtl="0">
              <a:lnSpc>
                <a:spcPct val="100000"/>
              </a:lnSpc>
              <a:spcBef>
                <a:spcPts val="0"/>
              </a:spcBef>
              <a:spcAft>
                <a:spcPts val="0"/>
              </a:spcAft>
              <a:buNone/>
            </a:pPr>
            <a:r>
              <a:rPr lang="uk-UA" sz="1200" b="0" strike="noStrike" dirty="0">
                <a:solidFill>
                  <a:schemeClr val="lt1"/>
                </a:solidFill>
                <a:latin typeface="Exo 2"/>
                <a:ea typeface="Exo 2"/>
                <a:cs typeface="Exo 2"/>
                <a:sym typeface="Exo 2"/>
              </a:rPr>
              <a:t>Слайд 1</a:t>
            </a:r>
            <a:r>
              <a:rPr lang="en-US" sz="1200" b="0" strike="noStrike" dirty="0">
                <a:solidFill>
                  <a:schemeClr val="lt1"/>
                </a:solidFill>
                <a:latin typeface="Exo 2"/>
                <a:ea typeface="Exo 2"/>
                <a:cs typeface="Exo 2"/>
                <a:sym typeface="Exo 2"/>
              </a:rPr>
              <a:t>2</a:t>
            </a:r>
            <a:r>
              <a:rPr lang="uk-UA" sz="1200" b="0" strike="noStrike" dirty="0">
                <a:solidFill>
                  <a:schemeClr val="lt1"/>
                </a:solidFill>
                <a:latin typeface="Exo 2"/>
                <a:ea typeface="Exo 2"/>
                <a:cs typeface="Exo 2"/>
                <a:sym typeface="Exo 2"/>
              </a:rPr>
              <a:t> </a:t>
            </a:r>
            <a:endParaRPr sz="1200" b="0" strike="noStrike" dirty="0">
              <a:solidFill>
                <a:srgbClr val="000000"/>
              </a:solidFill>
              <a:latin typeface="Arial"/>
              <a:ea typeface="Arial"/>
              <a:cs typeface="Arial"/>
              <a:sym typeface="Arial"/>
            </a:endParaRPr>
          </a:p>
          <a:p>
            <a:pPr marL="0" marR="0" lvl="0" indent="0" algn="r" rtl="0">
              <a:lnSpc>
                <a:spcPct val="100000"/>
              </a:lnSpc>
              <a:spcBef>
                <a:spcPts val="0"/>
              </a:spcBef>
              <a:spcAft>
                <a:spcPts val="0"/>
              </a:spcAft>
              <a:buNone/>
            </a:pPr>
            <a:endParaRPr sz="1200" b="0" strike="noStrike" dirty="0">
              <a:solidFill>
                <a:srgbClr val="000000"/>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13"/>
          <p:cNvSpPr txBox="1"/>
          <p:nvPr/>
        </p:nvSpPr>
        <p:spPr>
          <a:xfrm>
            <a:off x="126660" y="180000"/>
            <a:ext cx="8783640" cy="431640"/>
          </a:xfrm>
          <a:prstGeom prst="rect">
            <a:avLst/>
          </a:prstGeom>
          <a:noFill/>
          <a:ln>
            <a:noFill/>
          </a:ln>
        </p:spPr>
        <p:txBody>
          <a:bodyPr spcFirstLastPara="1" wrap="square" lIns="0" tIns="0" rIns="0" bIns="0" anchor="t" anchorCtr="0">
            <a:normAutofit/>
          </a:bodyPr>
          <a:lstStyle/>
          <a:p>
            <a:pPr marL="228600" marR="0" lvl="0" indent="0" algn="l" rtl="0">
              <a:lnSpc>
                <a:spcPct val="85000"/>
              </a:lnSpc>
              <a:spcBef>
                <a:spcPts val="0"/>
              </a:spcBef>
              <a:spcAft>
                <a:spcPts val="0"/>
              </a:spcAft>
              <a:buClr>
                <a:schemeClr val="lt1"/>
              </a:buClr>
              <a:buSzPts val="2800"/>
              <a:buFont typeface="Arial"/>
              <a:buNone/>
            </a:pPr>
            <a:r>
              <a:rPr lang="uk-UA" sz="2800">
                <a:solidFill>
                  <a:schemeClr val="lt1"/>
                </a:solidFill>
                <a:latin typeface="Exo 2"/>
                <a:ea typeface="Exo 2"/>
                <a:cs typeface="Exo 2"/>
                <a:sym typeface="Exo 2"/>
              </a:rPr>
              <a:t>Структура телеметричного кадру керування</a:t>
            </a:r>
            <a:endParaRPr/>
          </a:p>
        </p:txBody>
      </p:sp>
      <p:pic>
        <p:nvPicPr>
          <p:cNvPr id="160" name="Google Shape;160;p13"/>
          <p:cNvPicPr preferRelativeResize="0"/>
          <p:nvPr/>
        </p:nvPicPr>
        <p:blipFill rotWithShape="1">
          <a:blip r:embed="rId3">
            <a:alphaModFix/>
          </a:blip>
          <a:srcRect/>
          <a:stretch/>
        </p:blipFill>
        <p:spPr>
          <a:xfrm>
            <a:off x="268447" y="937627"/>
            <a:ext cx="8607105" cy="849555"/>
          </a:xfrm>
          <a:prstGeom prst="rect">
            <a:avLst/>
          </a:prstGeom>
          <a:noFill/>
          <a:ln>
            <a:noFill/>
          </a:ln>
        </p:spPr>
      </p:pic>
      <p:sp>
        <p:nvSpPr>
          <p:cNvPr id="161" name="Google Shape;161;p13"/>
          <p:cNvSpPr txBox="1"/>
          <p:nvPr/>
        </p:nvSpPr>
        <p:spPr>
          <a:xfrm>
            <a:off x="394283" y="1787182"/>
            <a:ext cx="7961152"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uk-UA" sz="1600">
                <a:solidFill>
                  <a:schemeClr val="dk1"/>
                </a:solidFill>
                <a:latin typeface="Calibri"/>
                <a:ea typeface="Calibri"/>
                <a:cs typeface="Calibri"/>
                <a:sym typeface="Calibri"/>
              </a:rPr>
              <a:t>Структура crsf рами</a:t>
            </a:r>
            <a:endParaRPr/>
          </a:p>
        </p:txBody>
      </p:sp>
      <p:sp>
        <p:nvSpPr>
          <p:cNvPr id="162" name="Google Shape;162;p13"/>
          <p:cNvSpPr txBox="1"/>
          <p:nvPr/>
        </p:nvSpPr>
        <p:spPr>
          <a:xfrm>
            <a:off x="394282" y="2359268"/>
            <a:ext cx="8355434" cy="175432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uk-UA" sz="1800" b="1">
                <a:solidFill>
                  <a:schemeClr val="dk1"/>
                </a:solidFill>
                <a:latin typeface="Calibri"/>
                <a:ea typeface="Calibri"/>
                <a:cs typeface="Calibri"/>
                <a:sym typeface="Calibri"/>
              </a:rPr>
              <a:t>Sync byte </a:t>
            </a:r>
            <a:r>
              <a:rPr lang="uk-UA" sz="1800">
                <a:solidFill>
                  <a:schemeClr val="dk1"/>
                </a:solidFill>
                <a:latin typeface="Calibri"/>
                <a:ea typeface="Calibri"/>
                <a:cs typeface="Calibri"/>
                <a:sym typeface="Calibri"/>
              </a:rPr>
              <a:t>– байт синхронізації, вказує адресата пакета</a:t>
            </a:r>
            <a:endParaRPr/>
          </a:p>
          <a:p>
            <a:pPr marL="0" marR="0" lvl="0" indent="0" algn="l" rtl="0">
              <a:spcBef>
                <a:spcPts val="0"/>
              </a:spcBef>
              <a:spcAft>
                <a:spcPts val="0"/>
              </a:spcAft>
              <a:buNone/>
            </a:pPr>
            <a:r>
              <a:rPr lang="uk-UA" sz="1800" b="1">
                <a:solidFill>
                  <a:schemeClr val="dk1"/>
                </a:solidFill>
                <a:latin typeface="Calibri"/>
                <a:ea typeface="Calibri"/>
                <a:cs typeface="Calibri"/>
                <a:sym typeface="Calibri"/>
              </a:rPr>
              <a:t>Frame Length </a:t>
            </a:r>
            <a:r>
              <a:rPr lang="uk-UA" sz="1800">
                <a:solidFill>
                  <a:schemeClr val="dk1"/>
                </a:solidFill>
                <a:latin typeface="Calibri"/>
                <a:ea typeface="Calibri"/>
                <a:cs typeface="Calibri"/>
                <a:sym typeface="Calibri"/>
              </a:rPr>
              <a:t>– вказує розмір пакету без перших двох байтів</a:t>
            </a:r>
            <a:endParaRPr/>
          </a:p>
          <a:p>
            <a:pPr marL="0" marR="0" lvl="0" indent="0" algn="l" rtl="0">
              <a:spcBef>
                <a:spcPts val="0"/>
              </a:spcBef>
              <a:spcAft>
                <a:spcPts val="0"/>
              </a:spcAft>
              <a:buNone/>
            </a:pPr>
            <a:r>
              <a:rPr lang="uk-UA" sz="1800" b="1">
                <a:solidFill>
                  <a:schemeClr val="dk1"/>
                </a:solidFill>
                <a:latin typeface="Calibri"/>
                <a:ea typeface="Calibri"/>
                <a:cs typeface="Calibri"/>
                <a:sym typeface="Calibri"/>
              </a:rPr>
              <a:t>Type </a:t>
            </a:r>
            <a:r>
              <a:rPr lang="uk-UA" sz="1800">
                <a:solidFill>
                  <a:schemeClr val="dk1"/>
                </a:solidFill>
                <a:latin typeface="Calibri"/>
                <a:ea typeface="Calibri"/>
                <a:cs typeface="Calibri"/>
                <a:sym typeface="Calibri"/>
              </a:rPr>
              <a:t>– ідентифікатор типу даних, від цього байту залежить зміст корисного навантаження</a:t>
            </a:r>
            <a:endParaRPr/>
          </a:p>
          <a:p>
            <a:pPr marL="0" marR="0" lvl="0" indent="0" algn="l" rtl="0">
              <a:spcBef>
                <a:spcPts val="0"/>
              </a:spcBef>
              <a:spcAft>
                <a:spcPts val="0"/>
              </a:spcAft>
              <a:buNone/>
            </a:pPr>
            <a:r>
              <a:rPr lang="uk-UA" sz="1800" b="1">
                <a:solidFill>
                  <a:schemeClr val="dk1"/>
                </a:solidFill>
                <a:latin typeface="Calibri"/>
                <a:ea typeface="Calibri"/>
                <a:cs typeface="Calibri"/>
                <a:sym typeface="Calibri"/>
              </a:rPr>
              <a:t>Payload </a:t>
            </a:r>
            <a:r>
              <a:rPr lang="uk-UA" sz="1800">
                <a:solidFill>
                  <a:schemeClr val="dk1"/>
                </a:solidFill>
                <a:latin typeface="Calibri"/>
                <a:ea typeface="Calibri"/>
                <a:cs typeface="Calibri"/>
                <a:sym typeface="Calibri"/>
              </a:rPr>
              <a:t>– корисне навантаження, містить основну інформацію пакета</a:t>
            </a:r>
            <a:endParaRPr/>
          </a:p>
          <a:p>
            <a:pPr marL="0" marR="0" lvl="0" indent="0" algn="l" rtl="0">
              <a:spcBef>
                <a:spcPts val="0"/>
              </a:spcBef>
              <a:spcAft>
                <a:spcPts val="0"/>
              </a:spcAft>
              <a:buNone/>
            </a:pPr>
            <a:r>
              <a:rPr lang="uk-UA" sz="1800" b="1">
                <a:solidFill>
                  <a:schemeClr val="dk1"/>
                </a:solidFill>
                <a:latin typeface="Calibri"/>
                <a:ea typeface="Calibri"/>
                <a:cs typeface="Calibri"/>
                <a:sym typeface="Calibri"/>
              </a:rPr>
              <a:t>CRC </a:t>
            </a:r>
            <a:r>
              <a:rPr lang="uk-UA" sz="1800">
                <a:solidFill>
                  <a:schemeClr val="dk1"/>
                </a:solidFill>
                <a:latin typeface="Calibri"/>
                <a:ea typeface="Calibri"/>
                <a:cs typeface="Calibri"/>
                <a:sym typeface="Calibri"/>
              </a:rPr>
              <a:t>– контрольна сума, запобіжник для перевірки цілісності </a:t>
            </a:r>
            <a:endParaRPr sz="1800" b="1">
              <a:solidFill>
                <a:schemeClr val="dk1"/>
              </a:solidFill>
              <a:latin typeface="Calibri"/>
              <a:ea typeface="Calibri"/>
              <a:cs typeface="Calibri"/>
              <a:sym typeface="Calibri"/>
            </a:endParaRPr>
          </a:p>
        </p:txBody>
      </p:sp>
      <p:sp>
        <p:nvSpPr>
          <p:cNvPr id="163" name="Google Shape;163;p13"/>
          <p:cNvSpPr/>
          <p:nvPr/>
        </p:nvSpPr>
        <p:spPr>
          <a:xfrm>
            <a:off x="8280000" y="4752000"/>
            <a:ext cx="719640" cy="251640"/>
          </a:xfrm>
          <a:prstGeom prst="rect">
            <a:avLst/>
          </a:prstGeom>
          <a:noFill/>
          <a:ln>
            <a:noFill/>
          </a:ln>
        </p:spPr>
        <p:txBody>
          <a:bodyPr spcFirstLastPara="1" wrap="square" lIns="0" tIns="0" rIns="0" bIns="0" anchor="t" anchorCtr="0">
            <a:noAutofit/>
          </a:bodyPr>
          <a:lstStyle/>
          <a:p>
            <a:pPr marL="0" marR="0" lvl="0" indent="0" algn="r" rtl="0">
              <a:lnSpc>
                <a:spcPct val="100000"/>
              </a:lnSpc>
              <a:spcBef>
                <a:spcPts val="0"/>
              </a:spcBef>
              <a:spcAft>
                <a:spcPts val="0"/>
              </a:spcAft>
              <a:buNone/>
            </a:pPr>
            <a:r>
              <a:rPr lang="uk-UA" sz="1200" b="0" strike="noStrike" dirty="0">
                <a:solidFill>
                  <a:schemeClr val="lt1"/>
                </a:solidFill>
                <a:latin typeface="Exo 2"/>
                <a:ea typeface="Exo 2"/>
                <a:cs typeface="Exo 2"/>
                <a:sym typeface="Exo 2"/>
              </a:rPr>
              <a:t>Слайд 1</a:t>
            </a:r>
            <a:r>
              <a:rPr lang="en-US" sz="1200" b="0" strike="noStrike" dirty="0">
                <a:solidFill>
                  <a:schemeClr val="lt1"/>
                </a:solidFill>
                <a:latin typeface="Exo 2"/>
                <a:ea typeface="Exo 2"/>
                <a:cs typeface="Exo 2"/>
                <a:sym typeface="Exo 2"/>
              </a:rPr>
              <a:t>3</a:t>
            </a:r>
            <a:r>
              <a:rPr lang="uk-UA" sz="1200" b="0" strike="noStrike" dirty="0">
                <a:solidFill>
                  <a:schemeClr val="lt1"/>
                </a:solidFill>
                <a:latin typeface="Exo 2"/>
                <a:ea typeface="Exo 2"/>
                <a:cs typeface="Exo 2"/>
                <a:sym typeface="Exo 2"/>
              </a:rPr>
              <a:t> </a:t>
            </a:r>
            <a:endParaRPr sz="1200" b="0" strike="noStrike" dirty="0">
              <a:solidFill>
                <a:srgbClr val="000000"/>
              </a:solidFill>
              <a:latin typeface="Arial"/>
              <a:ea typeface="Arial"/>
              <a:cs typeface="Arial"/>
              <a:sym typeface="Arial"/>
            </a:endParaRPr>
          </a:p>
          <a:p>
            <a:pPr marL="0" marR="0" lvl="0" indent="0" algn="r" rtl="0">
              <a:lnSpc>
                <a:spcPct val="100000"/>
              </a:lnSpc>
              <a:spcBef>
                <a:spcPts val="0"/>
              </a:spcBef>
              <a:spcAft>
                <a:spcPts val="0"/>
              </a:spcAft>
              <a:buNone/>
            </a:pPr>
            <a:endParaRPr sz="1200" b="0" strike="noStrike" dirty="0">
              <a:solidFill>
                <a:srgbClr val="000000"/>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67"/>
        <p:cNvGrpSpPr/>
        <p:nvPr/>
      </p:nvGrpSpPr>
      <p:grpSpPr>
        <a:xfrm>
          <a:off x="0" y="0"/>
          <a:ext cx="0" cy="0"/>
          <a:chOff x="0" y="0"/>
          <a:chExt cx="0" cy="0"/>
        </a:xfrm>
      </p:grpSpPr>
      <p:sp>
        <p:nvSpPr>
          <p:cNvPr id="168" name="Google Shape;168;p14"/>
          <p:cNvSpPr txBox="1"/>
          <p:nvPr/>
        </p:nvSpPr>
        <p:spPr>
          <a:xfrm>
            <a:off x="126660" y="180000"/>
            <a:ext cx="8783640" cy="431640"/>
          </a:xfrm>
          <a:prstGeom prst="rect">
            <a:avLst/>
          </a:prstGeom>
          <a:noFill/>
          <a:ln>
            <a:noFill/>
          </a:ln>
        </p:spPr>
        <p:txBody>
          <a:bodyPr spcFirstLastPara="1" wrap="square" lIns="0" tIns="0" rIns="0" bIns="0" anchor="t" anchorCtr="0">
            <a:normAutofit/>
          </a:bodyPr>
          <a:lstStyle/>
          <a:p>
            <a:pPr marL="228600" marR="0" lvl="0" indent="0" algn="l" rtl="0">
              <a:lnSpc>
                <a:spcPct val="85000"/>
              </a:lnSpc>
              <a:spcBef>
                <a:spcPts val="0"/>
              </a:spcBef>
              <a:spcAft>
                <a:spcPts val="0"/>
              </a:spcAft>
              <a:buClr>
                <a:schemeClr val="lt1"/>
              </a:buClr>
              <a:buSzPts val="2800"/>
              <a:buFont typeface="Arial"/>
              <a:buNone/>
            </a:pPr>
            <a:r>
              <a:rPr lang="uk-UA" sz="2800">
                <a:solidFill>
                  <a:schemeClr val="lt1"/>
                </a:solidFill>
                <a:latin typeface="Exo 2"/>
                <a:ea typeface="Exo 2"/>
                <a:cs typeface="Exo 2"/>
                <a:sym typeface="Exo 2"/>
              </a:rPr>
              <a:t>Інтерфейс користувача</a:t>
            </a:r>
            <a:endParaRPr/>
          </a:p>
        </p:txBody>
      </p:sp>
      <p:sp>
        <p:nvSpPr>
          <p:cNvPr id="169" name="Google Shape;169;p14"/>
          <p:cNvSpPr txBox="1"/>
          <p:nvPr/>
        </p:nvSpPr>
        <p:spPr>
          <a:xfrm>
            <a:off x="297180" y="2983580"/>
            <a:ext cx="120396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uk-UA" sz="1400">
                <a:solidFill>
                  <a:schemeClr val="dk1"/>
                </a:solidFill>
                <a:latin typeface="Exo 2"/>
                <a:ea typeface="Exo 2"/>
                <a:cs typeface="Exo 2"/>
                <a:sym typeface="Exo 2"/>
              </a:rPr>
              <a:t>Поле вводу команд</a:t>
            </a:r>
            <a:endParaRPr/>
          </a:p>
        </p:txBody>
      </p:sp>
      <p:sp>
        <p:nvSpPr>
          <p:cNvPr id="170" name="Google Shape;170;p14"/>
          <p:cNvSpPr txBox="1"/>
          <p:nvPr/>
        </p:nvSpPr>
        <p:spPr>
          <a:xfrm>
            <a:off x="7706340" y="2869280"/>
            <a:ext cx="120396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uk-UA" sz="1400">
                <a:solidFill>
                  <a:schemeClr val="dk1"/>
                </a:solidFill>
                <a:latin typeface="Exo 2"/>
                <a:ea typeface="Exo 2"/>
                <a:cs typeface="Exo 2"/>
                <a:sym typeface="Exo 2"/>
              </a:rPr>
              <a:t>Поле для виводу логів</a:t>
            </a:r>
            <a:endParaRPr sz="1400">
              <a:solidFill>
                <a:schemeClr val="dk1"/>
              </a:solidFill>
              <a:latin typeface="Exo 2"/>
              <a:ea typeface="Exo 2"/>
              <a:cs typeface="Exo 2"/>
              <a:sym typeface="Exo 2"/>
            </a:endParaRPr>
          </a:p>
        </p:txBody>
      </p:sp>
      <p:sp>
        <p:nvSpPr>
          <p:cNvPr id="171" name="Google Shape;171;p14"/>
          <p:cNvSpPr txBox="1"/>
          <p:nvPr/>
        </p:nvSpPr>
        <p:spPr>
          <a:xfrm>
            <a:off x="3445498" y="733075"/>
            <a:ext cx="3080700" cy="307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uk-UA" sz="1400">
                <a:solidFill>
                  <a:schemeClr val="dk1"/>
                </a:solidFill>
                <a:latin typeface="Exo 2"/>
                <a:ea typeface="Exo 2"/>
                <a:cs typeface="Exo 2"/>
                <a:sym typeface="Exo 2"/>
              </a:rPr>
              <a:t>Полотно для виводу відео</a:t>
            </a:r>
            <a:endParaRPr/>
          </a:p>
        </p:txBody>
      </p:sp>
      <p:sp>
        <p:nvSpPr>
          <p:cNvPr id="172" name="Google Shape;172;p14"/>
          <p:cNvSpPr txBox="1"/>
          <p:nvPr/>
        </p:nvSpPr>
        <p:spPr>
          <a:xfrm>
            <a:off x="2945676" y="4280725"/>
            <a:ext cx="3714000" cy="307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uk-UA" sz="1400">
                <a:solidFill>
                  <a:schemeClr val="dk1"/>
                </a:solidFill>
                <a:latin typeface="Exo 2"/>
                <a:ea typeface="Exo 2"/>
                <a:cs typeface="Exo 2"/>
                <a:sym typeface="Exo 2"/>
              </a:rPr>
              <a:t>Панель моніторингу каналів керування</a:t>
            </a:r>
            <a:endParaRPr/>
          </a:p>
        </p:txBody>
      </p:sp>
      <p:cxnSp>
        <p:nvCxnSpPr>
          <p:cNvPr id="173" name="Google Shape;173;p14"/>
          <p:cNvCxnSpPr/>
          <p:nvPr/>
        </p:nvCxnSpPr>
        <p:spPr>
          <a:xfrm>
            <a:off x="1287780" y="3392500"/>
            <a:ext cx="482400" cy="395100"/>
          </a:xfrm>
          <a:prstGeom prst="straightConnector1">
            <a:avLst/>
          </a:prstGeom>
          <a:noFill/>
          <a:ln w="9525" cap="flat" cmpd="sng">
            <a:solidFill>
              <a:schemeClr val="dk1"/>
            </a:solidFill>
            <a:prstDash val="solid"/>
            <a:miter lim="8000"/>
            <a:headEnd type="none" w="sm" len="sm"/>
            <a:tailEnd type="triangle" w="med" len="med"/>
          </a:ln>
        </p:spPr>
      </p:cxnSp>
      <p:cxnSp>
        <p:nvCxnSpPr>
          <p:cNvPr id="174" name="Google Shape;174;p14"/>
          <p:cNvCxnSpPr>
            <a:endCxn id="175" idx="2"/>
          </p:cNvCxnSpPr>
          <p:nvPr/>
        </p:nvCxnSpPr>
        <p:spPr>
          <a:xfrm rot="10800000" flipH="1">
            <a:off x="4351975" y="4033275"/>
            <a:ext cx="108300" cy="334200"/>
          </a:xfrm>
          <a:prstGeom prst="straightConnector1">
            <a:avLst/>
          </a:prstGeom>
          <a:noFill/>
          <a:ln w="9525" cap="flat" cmpd="sng">
            <a:solidFill>
              <a:schemeClr val="dk1"/>
            </a:solidFill>
            <a:prstDash val="solid"/>
            <a:miter lim="8000"/>
            <a:headEnd type="none" w="sm" len="sm"/>
            <a:tailEnd type="triangle" w="med" len="med"/>
          </a:ln>
        </p:spPr>
      </p:cxnSp>
      <p:cxnSp>
        <p:nvCxnSpPr>
          <p:cNvPr id="176" name="Google Shape;176;p14"/>
          <p:cNvCxnSpPr>
            <a:endCxn id="175" idx="3"/>
          </p:cNvCxnSpPr>
          <p:nvPr/>
        </p:nvCxnSpPr>
        <p:spPr>
          <a:xfrm rot="10800000">
            <a:off x="7150375" y="2597788"/>
            <a:ext cx="651600" cy="531000"/>
          </a:xfrm>
          <a:prstGeom prst="straightConnector1">
            <a:avLst/>
          </a:prstGeom>
          <a:noFill/>
          <a:ln w="9525" cap="flat" cmpd="sng">
            <a:solidFill>
              <a:schemeClr val="dk1"/>
            </a:solidFill>
            <a:prstDash val="solid"/>
            <a:miter lim="8000"/>
            <a:headEnd type="none" w="sm" len="sm"/>
            <a:tailEnd type="triangle" w="med" len="med"/>
          </a:ln>
        </p:spPr>
      </p:cxnSp>
      <p:cxnSp>
        <p:nvCxnSpPr>
          <p:cNvPr id="177" name="Google Shape;177;p14"/>
          <p:cNvCxnSpPr>
            <a:stCxn id="171" idx="2"/>
            <a:endCxn id="175" idx="0"/>
          </p:cNvCxnSpPr>
          <p:nvPr/>
        </p:nvCxnSpPr>
        <p:spPr>
          <a:xfrm flipH="1">
            <a:off x="4460248" y="1040875"/>
            <a:ext cx="525600" cy="121500"/>
          </a:xfrm>
          <a:prstGeom prst="straightConnector1">
            <a:avLst/>
          </a:prstGeom>
          <a:noFill/>
          <a:ln w="9525" cap="flat" cmpd="sng">
            <a:solidFill>
              <a:schemeClr val="dk1"/>
            </a:solidFill>
            <a:prstDash val="solid"/>
            <a:miter lim="8000"/>
            <a:headEnd type="none" w="sm" len="sm"/>
            <a:tailEnd type="triangle" w="med" len="med"/>
          </a:ln>
        </p:spPr>
      </p:cxnSp>
      <p:sp>
        <p:nvSpPr>
          <p:cNvPr id="178" name="Google Shape;178;p14"/>
          <p:cNvSpPr/>
          <p:nvPr/>
        </p:nvSpPr>
        <p:spPr>
          <a:xfrm>
            <a:off x="8280000" y="4752000"/>
            <a:ext cx="719640" cy="251640"/>
          </a:xfrm>
          <a:prstGeom prst="rect">
            <a:avLst/>
          </a:prstGeom>
          <a:noFill/>
          <a:ln>
            <a:noFill/>
          </a:ln>
        </p:spPr>
        <p:txBody>
          <a:bodyPr spcFirstLastPara="1" wrap="square" lIns="0" tIns="0" rIns="0" bIns="0" anchor="t" anchorCtr="0">
            <a:noAutofit/>
          </a:bodyPr>
          <a:lstStyle/>
          <a:p>
            <a:pPr marL="0" marR="0" lvl="0" indent="0" algn="r" rtl="0">
              <a:lnSpc>
                <a:spcPct val="100000"/>
              </a:lnSpc>
              <a:spcBef>
                <a:spcPts val="0"/>
              </a:spcBef>
              <a:spcAft>
                <a:spcPts val="0"/>
              </a:spcAft>
              <a:buNone/>
            </a:pPr>
            <a:r>
              <a:rPr lang="uk-UA" sz="1200" b="0" strike="noStrike" dirty="0">
                <a:solidFill>
                  <a:schemeClr val="lt1"/>
                </a:solidFill>
                <a:latin typeface="Exo 2"/>
                <a:ea typeface="Exo 2"/>
                <a:cs typeface="Exo 2"/>
                <a:sym typeface="Exo 2"/>
              </a:rPr>
              <a:t>Слайд 1</a:t>
            </a:r>
            <a:r>
              <a:rPr lang="en-US" sz="1200" b="0" strike="noStrike" dirty="0">
                <a:solidFill>
                  <a:schemeClr val="lt1"/>
                </a:solidFill>
                <a:latin typeface="Exo 2"/>
                <a:ea typeface="Exo 2"/>
                <a:cs typeface="Exo 2"/>
                <a:sym typeface="Exo 2"/>
              </a:rPr>
              <a:t>4</a:t>
            </a:r>
            <a:r>
              <a:rPr lang="uk-UA" sz="1200" b="0" strike="noStrike" dirty="0">
                <a:solidFill>
                  <a:schemeClr val="lt1"/>
                </a:solidFill>
                <a:latin typeface="Exo 2"/>
                <a:ea typeface="Exo 2"/>
                <a:cs typeface="Exo 2"/>
                <a:sym typeface="Exo 2"/>
              </a:rPr>
              <a:t> </a:t>
            </a:r>
            <a:endParaRPr sz="1200" b="0" strike="noStrike" dirty="0">
              <a:solidFill>
                <a:srgbClr val="000000"/>
              </a:solidFill>
              <a:latin typeface="Arial"/>
              <a:ea typeface="Arial"/>
              <a:cs typeface="Arial"/>
              <a:sym typeface="Arial"/>
            </a:endParaRPr>
          </a:p>
          <a:p>
            <a:pPr marL="0" marR="0" lvl="0" indent="0" algn="r" rtl="0">
              <a:lnSpc>
                <a:spcPct val="100000"/>
              </a:lnSpc>
              <a:spcBef>
                <a:spcPts val="0"/>
              </a:spcBef>
              <a:spcAft>
                <a:spcPts val="0"/>
              </a:spcAft>
              <a:buNone/>
            </a:pPr>
            <a:endParaRPr sz="1200" b="0" strike="noStrike" dirty="0">
              <a:solidFill>
                <a:srgbClr val="000000"/>
              </a:solidFill>
              <a:latin typeface="Arial"/>
              <a:ea typeface="Arial"/>
              <a:cs typeface="Arial"/>
              <a:sym typeface="Arial"/>
            </a:endParaRPr>
          </a:p>
        </p:txBody>
      </p:sp>
      <p:pic>
        <p:nvPicPr>
          <p:cNvPr id="175" name="Google Shape;175;p14"/>
          <p:cNvPicPr preferRelativeResize="0"/>
          <p:nvPr/>
        </p:nvPicPr>
        <p:blipFill>
          <a:blip r:embed="rId3">
            <a:alphaModFix/>
          </a:blip>
          <a:stretch>
            <a:fillRect/>
          </a:stretch>
        </p:blipFill>
        <p:spPr>
          <a:xfrm>
            <a:off x="1770175" y="1162300"/>
            <a:ext cx="5380200" cy="287097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82"/>
        <p:cNvGrpSpPr/>
        <p:nvPr/>
      </p:nvGrpSpPr>
      <p:grpSpPr>
        <a:xfrm>
          <a:off x="0" y="0"/>
          <a:ext cx="0" cy="0"/>
          <a:chOff x="0" y="0"/>
          <a:chExt cx="0" cy="0"/>
        </a:xfrm>
      </p:grpSpPr>
      <p:sp>
        <p:nvSpPr>
          <p:cNvPr id="183" name="Google Shape;183;p15"/>
          <p:cNvSpPr txBox="1"/>
          <p:nvPr/>
        </p:nvSpPr>
        <p:spPr>
          <a:xfrm>
            <a:off x="405060" y="254950"/>
            <a:ext cx="8783700" cy="431700"/>
          </a:xfrm>
          <a:prstGeom prst="rect">
            <a:avLst/>
          </a:prstGeom>
          <a:noFill/>
          <a:ln>
            <a:noFill/>
          </a:ln>
        </p:spPr>
        <p:txBody>
          <a:bodyPr spcFirstLastPara="1" wrap="square" lIns="0" tIns="0" rIns="0" bIns="0" anchor="t" anchorCtr="0">
            <a:normAutofit/>
          </a:bodyPr>
          <a:lstStyle/>
          <a:p>
            <a:pPr marL="228600" marR="0" lvl="0" indent="0" algn="l" rtl="0">
              <a:lnSpc>
                <a:spcPct val="85000"/>
              </a:lnSpc>
              <a:spcBef>
                <a:spcPts val="0"/>
              </a:spcBef>
              <a:spcAft>
                <a:spcPts val="0"/>
              </a:spcAft>
              <a:buClr>
                <a:schemeClr val="lt1"/>
              </a:buClr>
              <a:buSzPts val="2800"/>
              <a:buFont typeface="Arial"/>
              <a:buNone/>
            </a:pPr>
            <a:r>
              <a:rPr lang="uk-UA" sz="2800">
                <a:solidFill>
                  <a:schemeClr val="lt1"/>
                </a:solidFill>
                <a:latin typeface="Exo 2"/>
                <a:ea typeface="Exo 2"/>
                <a:cs typeface="Exo 2"/>
                <a:sym typeface="Exo 2"/>
              </a:rPr>
              <a:t>Аналіз результатів тестування </a:t>
            </a:r>
            <a:endParaRPr/>
          </a:p>
        </p:txBody>
      </p:sp>
      <p:sp>
        <p:nvSpPr>
          <p:cNvPr id="184" name="Google Shape;184;p15"/>
          <p:cNvSpPr/>
          <p:nvPr/>
        </p:nvSpPr>
        <p:spPr>
          <a:xfrm>
            <a:off x="8224300" y="4784125"/>
            <a:ext cx="719700" cy="251700"/>
          </a:xfrm>
          <a:prstGeom prst="rect">
            <a:avLst/>
          </a:prstGeom>
          <a:noFill/>
          <a:ln>
            <a:noFill/>
          </a:ln>
        </p:spPr>
        <p:txBody>
          <a:bodyPr spcFirstLastPara="1" wrap="square" lIns="0" tIns="0" rIns="0" bIns="0" anchor="t" anchorCtr="0">
            <a:noAutofit/>
          </a:bodyPr>
          <a:lstStyle/>
          <a:p>
            <a:pPr marL="0" marR="0" lvl="0" indent="0" algn="r" rtl="0">
              <a:lnSpc>
                <a:spcPct val="100000"/>
              </a:lnSpc>
              <a:spcBef>
                <a:spcPts val="0"/>
              </a:spcBef>
              <a:spcAft>
                <a:spcPts val="0"/>
              </a:spcAft>
              <a:buNone/>
            </a:pPr>
            <a:r>
              <a:rPr lang="uk-UA" sz="1200" b="0" strike="noStrike" dirty="0">
                <a:solidFill>
                  <a:schemeClr val="lt1"/>
                </a:solidFill>
                <a:latin typeface="Exo 2"/>
                <a:ea typeface="Exo 2"/>
                <a:cs typeface="Exo 2"/>
                <a:sym typeface="Exo 2"/>
              </a:rPr>
              <a:t>Слайд </a:t>
            </a:r>
            <a:r>
              <a:rPr lang="uk-UA" sz="1200" dirty="0">
                <a:solidFill>
                  <a:schemeClr val="lt1"/>
                </a:solidFill>
                <a:latin typeface="Exo 2"/>
                <a:ea typeface="Exo 2"/>
                <a:cs typeface="Exo 2"/>
                <a:sym typeface="Exo 2"/>
              </a:rPr>
              <a:t>1</a:t>
            </a:r>
            <a:r>
              <a:rPr lang="en-US" sz="1200" dirty="0">
                <a:solidFill>
                  <a:schemeClr val="lt1"/>
                </a:solidFill>
                <a:latin typeface="Exo 2"/>
                <a:ea typeface="Exo 2"/>
                <a:cs typeface="Exo 2"/>
                <a:sym typeface="Exo 2"/>
              </a:rPr>
              <a:t>5</a:t>
            </a:r>
            <a:r>
              <a:rPr lang="uk-UA" sz="1200" b="0" strike="noStrike" dirty="0">
                <a:solidFill>
                  <a:schemeClr val="lt1"/>
                </a:solidFill>
                <a:latin typeface="Exo 2"/>
                <a:ea typeface="Exo 2"/>
                <a:cs typeface="Exo 2"/>
                <a:sym typeface="Exo 2"/>
              </a:rPr>
              <a:t> </a:t>
            </a:r>
            <a:endParaRPr sz="1200" b="0" strike="noStrike" dirty="0">
              <a:solidFill>
                <a:srgbClr val="000000"/>
              </a:solidFill>
              <a:latin typeface="Arial"/>
              <a:ea typeface="Arial"/>
              <a:cs typeface="Arial"/>
              <a:sym typeface="Arial"/>
            </a:endParaRPr>
          </a:p>
          <a:p>
            <a:pPr marL="0" marR="0" lvl="0" indent="0" algn="r" rtl="0">
              <a:lnSpc>
                <a:spcPct val="100000"/>
              </a:lnSpc>
              <a:spcBef>
                <a:spcPts val="0"/>
              </a:spcBef>
              <a:spcAft>
                <a:spcPts val="0"/>
              </a:spcAft>
              <a:buNone/>
            </a:pPr>
            <a:endParaRPr sz="1200" b="0" strike="noStrike" dirty="0">
              <a:solidFill>
                <a:srgbClr val="000000"/>
              </a:solidFill>
              <a:latin typeface="Arial"/>
              <a:ea typeface="Arial"/>
              <a:cs typeface="Arial"/>
              <a:sym typeface="Arial"/>
            </a:endParaRPr>
          </a:p>
        </p:txBody>
      </p:sp>
      <p:pic>
        <p:nvPicPr>
          <p:cNvPr id="185" name="Google Shape;185;p15"/>
          <p:cNvPicPr preferRelativeResize="0"/>
          <p:nvPr/>
        </p:nvPicPr>
        <p:blipFill rotWithShape="1">
          <a:blip r:embed="rId3">
            <a:alphaModFix/>
          </a:blip>
          <a:srcRect b="47740"/>
          <a:stretch/>
        </p:blipFill>
        <p:spPr>
          <a:xfrm>
            <a:off x="335500" y="758325"/>
            <a:ext cx="4195721" cy="2198651"/>
          </a:xfrm>
          <a:prstGeom prst="rect">
            <a:avLst/>
          </a:prstGeom>
          <a:noFill/>
          <a:ln>
            <a:noFill/>
          </a:ln>
        </p:spPr>
      </p:pic>
      <p:pic>
        <p:nvPicPr>
          <p:cNvPr id="186" name="Google Shape;186;p15"/>
          <p:cNvPicPr preferRelativeResize="0"/>
          <p:nvPr/>
        </p:nvPicPr>
        <p:blipFill>
          <a:blip r:embed="rId4">
            <a:alphaModFix/>
          </a:blip>
          <a:stretch>
            <a:fillRect/>
          </a:stretch>
        </p:blipFill>
        <p:spPr>
          <a:xfrm>
            <a:off x="561200" y="3053350"/>
            <a:ext cx="3325000" cy="1548150"/>
          </a:xfrm>
          <a:prstGeom prst="rect">
            <a:avLst/>
          </a:prstGeom>
          <a:noFill/>
          <a:ln>
            <a:noFill/>
          </a:ln>
        </p:spPr>
      </p:pic>
      <p:pic>
        <p:nvPicPr>
          <p:cNvPr id="187" name="Google Shape;187;p15"/>
          <p:cNvPicPr preferRelativeResize="0"/>
          <p:nvPr/>
        </p:nvPicPr>
        <p:blipFill>
          <a:blip r:embed="rId5">
            <a:alphaModFix/>
          </a:blip>
          <a:stretch>
            <a:fillRect/>
          </a:stretch>
        </p:blipFill>
        <p:spPr>
          <a:xfrm>
            <a:off x="4458400" y="2454088"/>
            <a:ext cx="4574503" cy="2042188"/>
          </a:xfrm>
          <a:prstGeom prst="rect">
            <a:avLst/>
          </a:prstGeom>
          <a:noFill/>
          <a:ln>
            <a:noFill/>
          </a:ln>
        </p:spPr>
      </p:pic>
      <p:sp>
        <p:nvSpPr>
          <p:cNvPr id="188" name="Google Shape;188;p15"/>
          <p:cNvSpPr txBox="1"/>
          <p:nvPr/>
        </p:nvSpPr>
        <p:spPr>
          <a:xfrm>
            <a:off x="4907500" y="949375"/>
            <a:ext cx="4036500" cy="1242000"/>
          </a:xfrm>
          <a:prstGeom prst="rect">
            <a:avLst/>
          </a:prstGeom>
          <a:noFill/>
          <a:ln>
            <a:noFill/>
          </a:ln>
        </p:spPr>
        <p:txBody>
          <a:bodyPr spcFirstLastPara="1" wrap="square" lIns="91425" tIns="91425" rIns="91425" bIns="91425" anchor="t" anchorCtr="0">
            <a:noAutofit/>
          </a:bodyPr>
          <a:lstStyle/>
          <a:p>
            <a:pPr marL="0" lvl="0" indent="0" algn="just" rtl="0">
              <a:spcBef>
                <a:spcPts val="0"/>
              </a:spcBef>
              <a:spcAft>
                <a:spcPts val="0"/>
              </a:spcAft>
              <a:buNone/>
            </a:pPr>
            <a:r>
              <a:rPr lang="uk-UA" sz="1100">
                <a:solidFill>
                  <a:schemeClr val="dk1"/>
                </a:solidFill>
              </a:rPr>
              <a:t>У результаті тестування програмного продукту встановлено середню затримку на рівні </a:t>
            </a:r>
            <a:r>
              <a:rPr lang="uk-UA" sz="1100" b="1">
                <a:solidFill>
                  <a:schemeClr val="dk1"/>
                </a:solidFill>
              </a:rPr>
              <a:t>40–60 мс</a:t>
            </a:r>
            <a:r>
              <a:rPr lang="uk-UA" sz="1100">
                <a:solidFill>
                  <a:schemeClr val="dk1"/>
                </a:solidFill>
              </a:rPr>
              <a:t>, що є прийнятним показником для дистанційного пілотування БПЛА. Основними чинниками впливу є якість інтернет-з’єднання, віддаленість сервера, маршрутизація даних та швидкість обробки інформації на сервері. </a:t>
            </a:r>
            <a:endParaRPr sz="1100">
              <a:solidFill>
                <a:schemeClr val="dk1"/>
              </a:solidFill>
              <a:latin typeface="Exo 2"/>
              <a:ea typeface="Exo 2"/>
              <a:cs typeface="Exo 2"/>
              <a:sym typeface="Exo 2"/>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g3e87284c66a_1_40"/>
          <p:cNvSpPr txBox="1"/>
          <p:nvPr/>
        </p:nvSpPr>
        <p:spPr>
          <a:xfrm>
            <a:off x="126660" y="180000"/>
            <a:ext cx="8783700" cy="431700"/>
          </a:xfrm>
          <a:prstGeom prst="rect">
            <a:avLst/>
          </a:prstGeom>
          <a:noFill/>
          <a:ln>
            <a:noFill/>
          </a:ln>
        </p:spPr>
        <p:txBody>
          <a:bodyPr spcFirstLastPara="1" wrap="square" lIns="0" tIns="0" rIns="0" bIns="0" anchor="t" anchorCtr="0">
            <a:normAutofit/>
          </a:bodyPr>
          <a:lstStyle/>
          <a:p>
            <a:pPr marL="228600" marR="0" lvl="0" indent="0" algn="l" rtl="0">
              <a:lnSpc>
                <a:spcPct val="85000"/>
              </a:lnSpc>
              <a:spcBef>
                <a:spcPts val="0"/>
              </a:spcBef>
              <a:spcAft>
                <a:spcPts val="0"/>
              </a:spcAft>
              <a:buClr>
                <a:schemeClr val="lt1"/>
              </a:buClr>
              <a:buSzPts val="2800"/>
              <a:buFont typeface="Arial"/>
              <a:buNone/>
            </a:pPr>
            <a:r>
              <a:rPr lang="uk-UA" sz="2800">
                <a:solidFill>
                  <a:schemeClr val="lt1"/>
                </a:solidFill>
                <a:latin typeface="Exo 2"/>
                <a:ea typeface="Exo 2"/>
                <a:cs typeface="Exo 2"/>
                <a:sym typeface="Exo 2"/>
              </a:rPr>
              <a:t>Висновки</a:t>
            </a:r>
            <a:endParaRPr/>
          </a:p>
        </p:txBody>
      </p:sp>
      <p:sp>
        <p:nvSpPr>
          <p:cNvPr id="195" name="Google Shape;195;g3e87284c66a_1_40"/>
          <p:cNvSpPr txBox="1"/>
          <p:nvPr/>
        </p:nvSpPr>
        <p:spPr>
          <a:xfrm>
            <a:off x="132050" y="823725"/>
            <a:ext cx="8853300" cy="36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uk-UA" sz="1500">
                <a:solidFill>
                  <a:schemeClr val="dk1"/>
                </a:solidFill>
                <a:latin typeface="Exo 2"/>
                <a:ea typeface="Exo 2"/>
                <a:cs typeface="Exo 2"/>
                <a:sym typeface="Exo 2"/>
              </a:rPr>
              <a:t>В ході розробки дипломної роботи було досягнуто мету та виконано поставлені завдання:</a:t>
            </a:r>
            <a:endParaRPr sz="1500">
              <a:solidFill>
                <a:schemeClr val="dk1"/>
              </a:solidFill>
              <a:latin typeface="Exo 2"/>
              <a:ea typeface="Exo 2"/>
              <a:cs typeface="Exo 2"/>
              <a:sym typeface="Exo 2"/>
            </a:endParaRPr>
          </a:p>
          <a:p>
            <a:pPr marL="0" lvl="0" indent="0" algn="l" rtl="0">
              <a:lnSpc>
                <a:spcPct val="115000"/>
              </a:lnSpc>
              <a:spcBef>
                <a:spcPts val="0"/>
              </a:spcBef>
              <a:spcAft>
                <a:spcPts val="0"/>
              </a:spcAft>
              <a:buNone/>
            </a:pPr>
            <a:endParaRPr sz="1500">
              <a:solidFill>
                <a:schemeClr val="dk1"/>
              </a:solidFill>
              <a:latin typeface="Exo 2"/>
              <a:ea typeface="Exo 2"/>
              <a:cs typeface="Exo 2"/>
              <a:sym typeface="Exo 2"/>
            </a:endParaRPr>
          </a:p>
          <a:p>
            <a:pPr marL="457200" lvl="0" indent="-336550" algn="just" rtl="0">
              <a:lnSpc>
                <a:spcPct val="115000"/>
              </a:lnSpc>
              <a:spcBef>
                <a:spcPts val="0"/>
              </a:spcBef>
              <a:spcAft>
                <a:spcPts val="0"/>
              </a:spcAft>
              <a:buClr>
                <a:schemeClr val="dk1"/>
              </a:buClr>
              <a:buSzPts val="1700"/>
              <a:buFont typeface="Calibri"/>
              <a:buChar char="●"/>
            </a:pPr>
            <a:r>
              <a:rPr lang="uk-UA" sz="1700">
                <a:solidFill>
                  <a:schemeClr val="dk1"/>
                </a:solidFill>
                <a:latin typeface="Calibri"/>
                <a:ea typeface="Calibri"/>
                <a:cs typeface="Calibri"/>
                <a:sym typeface="Calibri"/>
              </a:rPr>
              <a:t>Проведено аналіз предметної області;</a:t>
            </a:r>
            <a:endParaRPr sz="1700">
              <a:solidFill>
                <a:schemeClr val="dk1"/>
              </a:solidFill>
              <a:latin typeface="Calibri"/>
              <a:ea typeface="Calibri"/>
              <a:cs typeface="Calibri"/>
              <a:sym typeface="Calibri"/>
            </a:endParaRPr>
          </a:p>
          <a:p>
            <a:pPr marL="457200" lvl="0" indent="-336550" algn="just" rtl="0">
              <a:lnSpc>
                <a:spcPct val="115000"/>
              </a:lnSpc>
              <a:spcBef>
                <a:spcPts val="0"/>
              </a:spcBef>
              <a:spcAft>
                <a:spcPts val="0"/>
              </a:spcAft>
              <a:buClr>
                <a:schemeClr val="dk1"/>
              </a:buClr>
              <a:buSzPts val="1700"/>
              <a:buFont typeface="Calibri"/>
              <a:buChar char="●"/>
            </a:pPr>
            <a:r>
              <a:rPr lang="uk-UA" sz="1700">
                <a:solidFill>
                  <a:schemeClr val="dk1"/>
                </a:solidFill>
                <a:latin typeface="Calibri"/>
                <a:ea typeface="Calibri"/>
                <a:cs typeface="Calibri"/>
                <a:sym typeface="Calibri"/>
              </a:rPr>
              <a:t>Визначено функціональні та нефункціональні вимоги;</a:t>
            </a:r>
            <a:endParaRPr sz="1700">
              <a:solidFill>
                <a:schemeClr val="dk1"/>
              </a:solidFill>
              <a:latin typeface="Calibri"/>
              <a:ea typeface="Calibri"/>
              <a:cs typeface="Calibri"/>
              <a:sym typeface="Calibri"/>
            </a:endParaRPr>
          </a:p>
          <a:p>
            <a:pPr marL="457200" lvl="0" indent="-336550" algn="just" rtl="0">
              <a:lnSpc>
                <a:spcPct val="115000"/>
              </a:lnSpc>
              <a:spcBef>
                <a:spcPts val="0"/>
              </a:spcBef>
              <a:spcAft>
                <a:spcPts val="0"/>
              </a:spcAft>
              <a:buClr>
                <a:schemeClr val="dk1"/>
              </a:buClr>
              <a:buSzPts val="1700"/>
              <a:buFont typeface="Calibri"/>
              <a:buChar char="●"/>
            </a:pPr>
            <a:r>
              <a:rPr lang="uk-UA" sz="1700">
                <a:solidFill>
                  <a:schemeClr val="dk1"/>
                </a:solidFill>
                <a:latin typeface="Calibri"/>
                <a:ea typeface="Calibri"/>
                <a:cs typeface="Calibri"/>
                <a:sym typeface="Calibri"/>
              </a:rPr>
              <a:t>Створено структуру системи віддаленого керування БПЛА типу fpv;</a:t>
            </a:r>
            <a:endParaRPr sz="1700">
              <a:solidFill>
                <a:schemeClr val="dk1"/>
              </a:solidFill>
              <a:latin typeface="Calibri"/>
              <a:ea typeface="Calibri"/>
              <a:cs typeface="Calibri"/>
              <a:sym typeface="Calibri"/>
            </a:endParaRPr>
          </a:p>
          <a:p>
            <a:pPr marL="457200" lvl="0" indent="-336550" algn="just" rtl="0">
              <a:lnSpc>
                <a:spcPct val="115000"/>
              </a:lnSpc>
              <a:spcBef>
                <a:spcPts val="0"/>
              </a:spcBef>
              <a:spcAft>
                <a:spcPts val="0"/>
              </a:spcAft>
              <a:buClr>
                <a:schemeClr val="dk1"/>
              </a:buClr>
              <a:buSzPts val="1700"/>
              <a:buFont typeface="Calibri"/>
              <a:buChar char="●"/>
            </a:pPr>
            <a:r>
              <a:rPr lang="uk-UA" sz="1700">
                <a:solidFill>
                  <a:schemeClr val="dk1"/>
                </a:solidFill>
                <a:latin typeface="Calibri"/>
                <a:ea typeface="Calibri"/>
                <a:cs typeface="Calibri"/>
                <a:sym typeface="Calibri"/>
              </a:rPr>
              <a:t>Реалізовано схеми фізичного передавання даних між БПЛА та пристроєм комунікації;</a:t>
            </a:r>
            <a:endParaRPr sz="1700">
              <a:solidFill>
                <a:schemeClr val="dk1"/>
              </a:solidFill>
              <a:latin typeface="Calibri"/>
              <a:ea typeface="Calibri"/>
              <a:cs typeface="Calibri"/>
              <a:sym typeface="Calibri"/>
            </a:endParaRPr>
          </a:p>
          <a:p>
            <a:pPr marL="457200" lvl="0" indent="-336550" algn="just" rtl="0">
              <a:lnSpc>
                <a:spcPct val="115000"/>
              </a:lnSpc>
              <a:spcBef>
                <a:spcPts val="0"/>
              </a:spcBef>
              <a:spcAft>
                <a:spcPts val="0"/>
              </a:spcAft>
              <a:buClr>
                <a:schemeClr val="dk1"/>
              </a:buClr>
              <a:buSzPts val="1700"/>
              <a:buFont typeface="Calibri"/>
              <a:buChar char="●"/>
            </a:pPr>
            <a:r>
              <a:rPr lang="uk-UA" sz="1700">
                <a:solidFill>
                  <a:schemeClr val="dk1"/>
                </a:solidFill>
                <a:latin typeface="Calibri"/>
                <a:ea typeface="Calibri"/>
                <a:cs typeface="Calibri"/>
                <a:sym typeface="Calibri"/>
              </a:rPr>
              <a:t>Розроблено  системи керування дроном. Серверна частина;</a:t>
            </a:r>
            <a:endParaRPr sz="1700">
              <a:solidFill>
                <a:schemeClr val="dk1"/>
              </a:solidFill>
              <a:latin typeface="Calibri"/>
              <a:ea typeface="Calibri"/>
              <a:cs typeface="Calibri"/>
              <a:sym typeface="Calibri"/>
            </a:endParaRPr>
          </a:p>
          <a:p>
            <a:pPr marL="457200" lvl="0" indent="-336550" algn="just" rtl="0">
              <a:lnSpc>
                <a:spcPct val="115000"/>
              </a:lnSpc>
              <a:spcBef>
                <a:spcPts val="0"/>
              </a:spcBef>
              <a:spcAft>
                <a:spcPts val="0"/>
              </a:spcAft>
              <a:buClr>
                <a:schemeClr val="dk1"/>
              </a:buClr>
              <a:buSzPts val="1700"/>
              <a:buFont typeface="Calibri"/>
              <a:buChar char="●"/>
            </a:pPr>
            <a:r>
              <a:rPr lang="uk-UA" sz="1700">
                <a:solidFill>
                  <a:schemeClr val="dk1"/>
                </a:solidFill>
                <a:latin typeface="Calibri"/>
                <a:ea typeface="Calibri"/>
                <a:cs typeface="Calibri"/>
                <a:sym typeface="Calibri"/>
              </a:rPr>
              <a:t>Розроблено ПЗ системи керування дроном. Клієнтська частина;</a:t>
            </a:r>
            <a:endParaRPr sz="1700">
              <a:solidFill>
                <a:schemeClr val="dk1"/>
              </a:solidFill>
              <a:latin typeface="Exo 2"/>
              <a:ea typeface="Exo 2"/>
              <a:cs typeface="Exo 2"/>
              <a:sym typeface="Exo 2"/>
            </a:endParaRPr>
          </a:p>
          <a:p>
            <a:pPr marL="457200" lvl="0" indent="-336550" algn="just" rtl="0">
              <a:lnSpc>
                <a:spcPct val="115000"/>
              </a:lnSpc>
              <a:spcBef>
                <a:spcPts val="0"/>
              </a:spcBef>
              <a:spcAft>
                <a:spcPts val="0"/>
              </a:spcAft>
              <a:buClr>
                <a:schemeClr val="dk1"/>
              </a:buClr>
              <a:buSzPts val="1700"/>
              <a:buFont typeface="Calibri"/>
              <a:buChar char="●"/>
            </a:pPr>
            <a:r>
              <a:rPr lang="uk-UA" sz="1700">
                <a:solidFill>
                  <a:schemeClr val="dk1"/>
                </a:solidFill>
                <a:latin typeface="Calibri"/>
                <a:ea typeface="Calibri"/>
                <a:cs typeface="Calibri"/>
                <a:sym typeface="Calibri"/>
              </a:rPr>
              <a:t>Описано етапи обробки відеокадру;</a:t>
            </a:r>
            <a:endParaRPr sz="1700">
              <a:solidFill>
                <a:schemeClr val="dk1"/>
              </a:solidFill>
              <a:latin typeface="Calibri"/>
              <a:ea typeface="Calibri"/>
              <a:cs typeface="Calibri"/>
              <a:sym typeface="Calibri"/>
            </a:endParaRPr>
          </a:p>
          <a:p>
            <a:pPr marL="457200" lvl="0" indent="-336550" algn="just" rtl="0">
              <a:lnSpc>
                <a:spcPct val="115000"/>
              </a:lnSpc>
              <a:spcBef>
                <a:spcPts val="0"/>
              </a:spcBef>
              <a:spcAft>
                <a:spcPts val="0"/>
              </a:spcAft>
              <a:buClr>
                <a:schemeClr val="dk1"/>
              </a:buClr>
              <a:buSzPts val="1700"/>
              <a:buFont typeface="Calibri"/>
              <a:buChar char="●"/>
            </a:pPr>
            <a:r>
              <a:rPr lang="uk-UA" sz="1700">
                <a:solidFill>
                  <a:schemeClr val="dk1"/>
                </a:solidFill>
                <a:latin typeface="Calibri"/>
                <a:ea typeface="Calibri"/>
                <a:cs typeface="Calibri"/>
                <a:sym typeface="Calibri"/>
              </a:rPr>
              <a:t>Сконструйовано телеметричний кадр сrsf протоколу для керування дроном;</a:t>
            </a:r>
            <a:endParaRPr sz="1700">
              <a:solidFill>
                <a:schemeClr val="dk1"/>
              </a:solidFill>
              <a:latin typeface="Calibri"/>
              <a:ea typeface="Calibri"/>
              <a:cs typeface="Calibri"/>
              <a:sym typeface="Calibri"/>
            </a:endParaRPr>
          </a:p>
          <a:p>
            <a:pPr marL="457200" lvl="0" indent="-336550" algn="just" rtl="0">
              <a:lnSpc>
                <a:spcPct val="115000"/>
              </a:lnSpc>
              <a:spcBef>
                <a:spcPts val="0"/>
              </a:spcBef>
              <a:spcAft>
                <a:spcPts val="0"/>
              </a:spcAft>
              <a:buClr>
                <a:schemeClr val="dk1"/>
              </a:buClr>
              <a:buSzPts val="1700"/>
              <a:buFont typeface="Calibri"/>
              <a:buChar char="●"/>
            </a:pPr>
            <a:r>
              <a:rPr lang="uk-UA" sz="1700">
                <a:solidFill>
                  <a:schemeClr val="dk1"/>
                </a:solidFill>
                <a:latin typeface="Calibri"/>
                <a:ea typeface="Calibri"/>
                <a:cs typeface="Calibri"/>
                <a:sym typeface="Calibri"/>
              </a:rPr>
              <a:t>Протестовано ПЗ та проведено аналіз результатів тестування</a:t>
            </a:r>
            <a:endParaRPr sz="1700">
              <a:solidFill>
                <a:schemeClr val="dk1"/>
              </a:solidFill>
              <a:latin typeface="Calibri"/>
              <a:ea typeface="Calibri"/>
              <a:cs typeface="Calibri"/>
              <a:sym typeface="Calibri"/>
            </a:endParaRPr>
          </a:p>
          <a:p>
            <a:pPr marL="457200" lvl="0" indent="0" algn="l" rtl="0">
              <a:lnSpc>
                <a:spcPct val="115000"/>
              </a:lnSpc>
              <a:spcBef>
                <a:spcPts val="0"/>
              </a:spcBef>
              <a:spcAft>
                <a:spcPts val="0"/>
              </a:spcAft>
              <a:buNone/>
            </a:pPr>
            <a:endParaRPr sz="1500">
              <a:solidFill>
                <a:schemeClr val="dk1"/>
              </a:solidFill>
              <a:latin typeface="Exo 2"/>
              <a:ea typeface="Exo 2"/>
              <a:cs typeface="Exo 2"/>
              <a:sym typeface="Exo 2"/>
            </a:endParaRPr>
          </a:p>
        </p:txBody>
      </p:sp>
      <p:sp>
        <p:nvSpPr>
          <p:cNvPr id="196" name="Google Shape;196;g3e87284c66a_1_40"/>
          <p:cNvSpPr/>
          <p:nvPr/>
        </p:nvSpPr>
        <p:spPr>
          <a:xfrm>
            <a:off x="8280000" y="4752000"/>
            <a:ext cx="719700" cy="251700"/>
          </a:xfrm>
          <a:prstGeom prst="rect">
            <a:avLst/>
          </a:prstGeom>
          <a:noFill/>
          <a:ln>
            <a:noFill/>
          </a:ln>
        </p:spPr>
        <p:txBody>
          <a:bodyPr spcFirstLastPara="1" wrap="square" lIns="0" tIns="0" rIns="0" bIns="0" anchor="t" anchorCtr="0">
            <a:noAutofit/>
          </a:bodyPr>
          <a:lstStyle/>
          <a:p>
            <a:pPr marL="0" marR="0" lvl="0" indent="0" algn="r" rtl="0">
              <a:lnSpc>
                <a:spcPct val="100000"/>
              </a:lnSpc>
              <a:spcBef>
                <a:spcPts val="0"/>
              </a:spcBef>
              <a:spcAft>
                <a:spcPts val="0"/>
              </a:spcAft>
              <a:buNone/>
            </a:pPr>
            <a:r>
              <a:rPr lang="uk-UA" sz="1200" b="0" i="0" u="none" strike="noStrike" cap="none" dirty="0">
                <a:solidFill>
                  <a:schemeClr val="lt1"/>
                </a:solidFill>
                <a:latin typeface="Exo 2"/>
                <a:ea typeface="Exo 2"/>
                <a:cs typeface="Exo 2"/>
                <a:sym typeface="Exo 2"/>
              </a:rPr>
              <a:t>Слайд </a:t>
            </a:r>
            <a:r>
              <a:rPr lang="uk-UA" sz="1200" dirty="0">
                <a:solidFill>
                  <a:schemeClr val="lt1"/>
                </a:solidFill>
                <a:latin typeface="Exo 2"/>
                <a:ea typeface="Exo 2"/>
                <a:cs typeface="Exo 2"/>
                <a:sym typeface="Exo 2"/>
              </a:rPr>
              <a:t>1</a:t>
            </a:r>
            <a:r>
              <a:rPr lang="en-US" sz="1200" dirty="0">
                <a:solidFill>
                  <a:schemeClr val="lt1"/>
                </a:solidFill>
                <a:latin typeface="Exo 2"/>
                <a:ea typeface="Exo 2"/>
                <a:cs typeface="Exo 2"/>
                <a:sym typeface="Exo 2"/>
              </a:rPr>
              <a:t>6</a:t>
            </a:r>
            <a:r>
              <a:rPr lang="uk-UA" sz="1200" b="0" i="0" u="none" strike="noStrike" cap="none" dirty="0">
                <a:solidFill>
                  <a:schemeClr val="lt1"/>
                </a:solidFill>
                <a:latin typeface="Exo 2"/>
                <a:ea typeface="Exo 2"/>
                <a:cs typeface="Exo 2"/>
                <a:sym typeface="Exo 2"/>
              </a:rPr>
              <a:t> </a:t>
            </a:r>
            <a:endParaRPr sz="1200" b="0" i="0" u="none" strike="noStrike" cap="none" dirty="0">
              <a:solidFill>
                <a:srgbClr val="000000"/>
              </a:solidFill>
              <a:latin typeface="Arial"/>
              <a:ea typeface="Arial"/>
              <a:cs typeface="Arial"/>
              <a:sym typeface="Arial"/>
            </a:endParaRPr>
          </a:p>
          <a:p>
            <a:pPr marL="0" marR="0" lvl="0" indent="0" algn="r" rtl="0">
              <a:lnSpc>
                <a:spcPct val="100000"/>
              </a:lnSpc>
              <a:spcBef>
                <a:spcPts val="0"/>
              </a:spcBef>
              <a:spcAft>
                <a:spcPts val="0"/>
              </a:spcAft>
              <a:buNone/>
            </a:pPr>
            <a:endParaRPr sz="1200" b="0" i="0" u="none" strike="noStrike" cap="none" dirty="0">
              <a:solidFill>
                <a:srgbClr val="000000"/>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00"/>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Тема Office">
  <a:themeElements>
    <a:clrScheme name="Офіс">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Тема Office">
  <a:themeElements>
    <a:clrScheme name="Офіс">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Тема Office">
  <a:themeElements>
    <a:clrScheme name="Офіс">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Тема Office">
  <a:themeElements>
    <a:clrScheme name="Офіс">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1676</Words>
  <Application>Microsoft Office PowerPoint</Application>
  <PresentationFormat>Екран (16:9)</PresentationFormat>
  <Paragraphs>130</Paragraphs>
  <Slides>17</Slides>
  <Notes>17</Notes>
  <HiddenSlides>0</HiddenSlides>
  <MMClips>0</MMClips>
  <ScaleCrop>false</ScaleCrop>
  <HeadingPairs>
    <vt:vector size="6" baseType="variant">
      <vt:variant>
        <vt:lpstr>Використані шрифти</vt:lpstr>
      </vt:variant>
      <vt:variant>
        <vt:i4>4</vt:i4>
      </vt:variant>
      <vt:variant>
        <vt:lpstr>Тема</vt:lpstr>
      </vt:variant>
      <vt:variant>
        <vt:i4>3</vt:i4>
      </vt:variant>
      <vt:variant>
        <vt:lpstr>Заголовки слайдів</vt:lpstr>
      </vt:variant>
      <vt:variant>
        <vt:i4>17</vt:i4>
      </vt:variant>
    </vt:vector>
  </HeadingPairs>
  <TitlesOfParts>
    <vt:vector size="24" baseType="lpstr">
      <vt:lpstr>Arial</vt:lpstr>
      <vt:lpstr>Calibri</vt:lpstr>
      <vt:lpstr>Google Sans</vt:lpstr>
      <vt:lpstr>Exo 2</vt:lpstr>
      <vt:lpstr>Тема Office</vt:lpstr>
      <vt:lpstr>Тема Office</vt:lpstr>
      <vt:lpstr>Тема Office</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Admin</dc:creator>
  <cp:lastModifiedBy>Артем Сівоздрав</cp:lastModifiedBy>
  <cp:revision>2</cp:revision>
  <dcterms:created xsi:type="dcterms:W3CDTF">2020-04-02T13:49:33Z</dcterms:created>
  <dcterms:modified xsi:type="dcterms:W3CDTF">2026-06-05T09:19:20Z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Экран (16:9)</vt:lpwstr>
  </property>
  <property fmtid="{D5CDD505-2E9C-101B-9397-08002B2CF9AE}" pid="3" name="Slides">
    <vt:i4>5</vt:i4>
  </property>
</Properties>
</file>